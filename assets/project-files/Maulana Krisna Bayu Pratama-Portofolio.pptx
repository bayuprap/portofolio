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elegraf Bold" charset="1" panose="00000800000000000000"/>
      <p:regular r:id="rId20"/>
    </p:embeddedFont>
    <p:embeddedFont>
      <p:font typeface="Telegraf"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https://docs.google.com/spreadsheets/d/1T4a1v8huWI44NVILBHAg3N9KK7xWe9Ep/edit?usp=sharing&amp;ouid=101548568454846273812&amp;rtpof=true&amp;sd=true"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https://drive.google.com/file/d/1gma8sjux1rBOC9u2os41R4sp9z4hZbXW/view?usp=sharing" TargetMode="External" Type="http://schemas.openxmlformats.org/officeDocument/2006/relationships/hyperlink"/><Relationship Id="rId4" Target="https://drive.google.com/file/d/1gma8sjux1rBOC9u2os41R4sp9z4hZbXW/view?usp=sharing" TargetMode="External" Type="http://schemas.openxmlformats.org/officeDocument/2006/relationships/hyperlink"/><Relationship Id="rId5" Target="https://lookerstudio.google.com/reporting/7bc160cf-1e2a-4a5e-8c91-6881ceb35c06" TargetMode="External" Type="http://schemas.openxmlformats.org/officeDocument/2006/relationships/hyperlink"/><Relationship Id="rId6" Target="https://lookerstudio.google.com/reporting/7bc160cf-1e2a-4a5e-8c91-6881ceb35c06"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https://docs.google.com/spreadsheets/d/1ZUXzKNmqiXQ13diMRxntGx3_yJXXbdKV/edit?usp=sharing&amp;ouid=101548568454846273812&amp;rtpof=true&amp;sd=true"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https://drive.google.com/file/d/1dwM2P50CJdqK-tLAJCnzVKsWQ9ZrKGSD/view?usp=sharing" TargetMode="External" Type="http://schemas.openxmlformats.org/officeDocument/2006/relationships/hyperlink"/><Relationship Id="rId4" Target="https://drive.google.com/file/d/1dwM2P50CJdqK-tLAJCnzVKsWQ9ZrKGSD/view?usp=sharing" TargetMode="External" Type="http://schemas.openxmlformats.org/officeDocument/2006/relationships/hyperlink"/><Relationship Id="rId5" Target="https://lookerstudio.google.com/reporting/c656a9ff-0d2e-4d47-ad9f-b254711cfc9a" TargetMode="External" Type="http://schemas.openxmlformats.org/officeDocument/2006/relationships/hyperlink"/><Relationship Id="rId6" Target="https://lookerstudio.google.com/reporting/c656a9ff-0d2e-4d47-ad9f-b254711cfc9a"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https://docs.google.com/spreadsheets/d/11gIEwjEjAoc_h74e3lfJULQ7mBR4BBno/edit?usp=sharing&amp;ouid=101548568454846273812&amp;rtpof=true&amp;sd=true"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https://docs.google.com/spreadsheets/d/11gIEwjEjAoc_h74e3lfJULQ7mBR4BBno/edit?usp=sharing&amp;ouid=101548568454846273812&amp;rtpof=true&amp;sd=true"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https://docs.google.com/presentation/d/1HWshzeKlUNpU4BjG82d6pExKdyr2VQHT/edit?usp=sharing&amp;ouid=101548568454846273812&amp;rtpof=true&amp;sd=true"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https://www.linkedin.com/in/maulana-krisna-bayu-pratama-918751280/" TargetMode="External" Type="http://schemas.openxmlformats.org/officeDocument/2006/relationships/hyperlink"/><Relationship Id="rId12" Target="https://github.com/BayuPrap" TargetMode="External" Type="http://schemas.openxmlformats.org/officeDocument/2006/relationships/hyperlink"/><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4565B2"/>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66750" y="666750"/>
            <a:ext cx="7191375" cy="8953500"/>
            <a:chOff x="0" y="0"/>
            <a:chExt cx="928643" cy="1156192"/>
          </a:xfrm>
        </p:grpSpPr>
        <p:sp>
          <p:nvSpPr>
            <p:cNvPr name="Freeform 6" id="6"/>
            <p:cNvSpPr/>
            <p:nvPr/>
          </p:nvSpPr>
          <p:spPr>
            <a:xfrm flipH="false" flipV="false" rot="0">
              <a:off x="0" y="0"/>
              <a:ext cx="928643" cy="1156192"/>
            </a:xfrm>
            <a:custGeom>
              <a:avLst/>
              <a:gdLst/>
              <a:ahLst/>
              <a:cxnLst/>
              <a:rect r="r" b="b" t="t" l="l"/>
              <a:pathLst>
                <a:path h="1156192" w="928643">
                  <a:moveTo>
                    <a:pt x="37679" y="0"/>
                  </a:moveTo>
                  <a:lnTo>
                    <a:pt x="890964" y="0"/>
                  </a:lnTo>
                  <a:cubicBezTo>
                    <a:pt x="900957" y="0"/>
                    <a:pt x="910541" y="3970"/>
                    <a:pt x="917607" y="11036"/>
                  </a:cubicBezTo>
                  <a:cubicBezTo>
                    <a:pt x="924673" y="18102"/>
                    <a:pt x="928643" y="27686"/>
                    <a:pt x="928643" y="37679"/>
                  </a:cubicBezTo>
                  <a:lnTo>
                    <a:pt x="928643" y="1118512"/>
                  </a:lnTo>
                  <a:cubicBezTo>
                    <a:pt x="928643" y="1139322"/>
                    <a:pt x="911774" y="1156192"/>
                    <a:pt x="890964" y="1156192"/>
                  </a:cubicBezTo>
                  <a:lnTo>
                    <a:pt x="37679" y="1156192"/>
                  </a:lnTo>
                  <a:cubicBezTo>
                    <a:pt x="16870" y="1156192"/>
                    <a:pt x="0" y="1139322"/>
                    <a:pt x="0" y="1118512"/>
                  </a:cubicBezTo>
                  <a:lnTo>
                    <a:pt x="0" y="37679"/>
                  </a:lnTo>
                  <a:cubicBezTo>
                    <a:pt x="0" y="16870"/>
                    <a:pt x="16870" y="0"/>
                    <a:pt x="37679" y="0"/>
                  </a:cubicBezTo>
                  <a:close/>
                </a:path>
              </a:pathLst>
            </a:custGeom>
            <a:blipFill>
              <a:blip r:embed="rId2"/>
              <a:stretch>
                <a:fillRect l="0" t="-199" r="0" b="-199"/>
              </a:stretch>
            </a:blipFill>
            <a:ln cap="rnd">
              <a:noFill/>
              <a:prstDash val="solid"/>
              <a:round/>
            </a:ln>
          </p:spPr>
        </p:sp>
      </p:grpSp>
      <p:grpSp>
        <p:nvGrpSpPr>
          <p:cNvPr name="Group 7" id="7"/>
          <p:cNvGrpSpPr/>
          <p:nvPr/>
        </p:nvGrpSpPr>
        <p:grpSpPr>
          <a:xfrm rot="0">
            <a:off x="9144000" y="1814232"/>
            <a:ext cx="8324850" cy="4781550"/>
            <a:chOff x="0" y="0"/>
            <a:chExt cx="11099800" cy="6375400"/>
          </a:xfrm>
        </p:grpSpPr>
        <p:sp>
          <p:nvSpPr>
            <p:cNvPr name="TextBox 8" id="8"/>
            <p:cNvSpPr txBox="true"/>
            <p:nvPr/>
          </p:nvSpPr>
          <p:spPr>
            <a:xfrm rot="0">
              <a:off x="0" y="1174750"/>
              <a:ext cx="11099800" cy="5200650"/>
            </a:xfrm>
            <a:prstGeom prst="rect">
              <a:avLst/>
            </a:prstGeom>
          </p:spPr>
          <p:txBody>
            <a:bodyPr anchor="t" rtlCol="false" tIns="0" lIns="0" bIns="0" rIns="0">
              <a:spAutoFit/>
            </a:bodyPr>
            <a:lstStyle/>
            <a:p>
              <a:pPr algn="l" marL="0" indent="0" lvl="0">
                <a:lnSpc>
                  <a:spcPts val="9900"/>
                </a:lnSpc>
              </a:pPr>
              <a:r>
                <a:rPr lang="en-US" b="true" sz="9000" spc="-89">
                  <a:solidFill>
                    <a:srgbClr val="9FA8DA"/>
                  </a:solidFill>
                  <a:latin typeface="Telegraf Bold"/>
                  <a:ea typeface="Telegraf Bold"/>
                  <a:cs typeface="Telegraf Bold"/>
                  <a:sym typeface="Telegraf Bold"/>
                </a:rPr>
                <a:t>Keter</a:t>
              </a:r>
              <a:r>
                <a:rPr lang="en-US" b="true" sz="9000" spc="-89">
                  <a:solidFill>
                    <a:srgbClr val="9FA8DA"/>
                  </a:solidFill>
                  <a:latin typeface="Telegraf Bold"/>
                  <a:ea typeface="Telegraf Bold"/>
                  <a:cs typeface="Telegraf Bold"/>
                  <a:sym typeface="Telegraf Bold"/>
                </a:rPr>
                <a:t>ampilan &amp; Proyek Unggulan</a:t>
              </a:r>
            </a:p>
          </p:txBody>
        </p:sp>
        <p:sp>
          <p:nvSpPr>
            <p:cNvPr name="TextBox 9" id="9"/>
            <p:cNvSpPr txBox="true"/>
            <p:nvPr/>
          </p:nvSpPr>
          <p:spPr>
            <a:xfrm rot="0">
              <a:off x="0" y="-9525"/>
              <a:ext cx="11099800" cy="606425"/>
            </a:xfrm>
            <a:prstGeom prst="rect">
              <a:avLst/>
            </a:prstGeom>
          </p:spPr>
          <p:txBody>
            <a:bodyPr anchor="t" rtlCol="false" tIns="0" lIns="0" bIns="0" rIns="0">
              <a:spAutoFit/>
            </a:bodyPr>
            <a:lstStyle/>
            <a:p>
              <a:pPr algn="l" marL="0" indent="0" lvl="0">
                <a:lnSpc>
                  <a:spcPts val="3299"/>
                </a:lnSpc>
              </a:pPr>
              <a:r>
                <a:rPr lang="en-US" b="true" sz="2999" spc="-29">
                  <a:solidFill>
                    <a:srgbClr val="A292D9"/>
                  </a:solidFill>
                  <a:latin typeface="Telegraf Bold"/>
                  <a:ea typeface="Telegraf Bold"/>
                  <a:cs typeface="Telegraf Bold"/>
                  <a:sym typeface="Telegraf Bold"/>
                </a:rPr>
                <a:t>Portofolio Saya</a:t>
              </a:r>
            </a:p>
          </p:txBody>
        </p:sp>
      </p:grpSp>
      <p:sp>
        <p:nvSpPr>
          <p:cNvPr name="TextBox 10" id="10"/>
          <p:cNvSpPr txBox="true"/>
          <p:nvPr/>
        </p:nvSpPr>
        <p:spPr>
          <a:xfrm rot="0">
            <a:off x="9144000" y="9163050"/>
            <a:ext cx="8324850" cy="457200"/>
          </a:xfrm>
          <a:prstGeom prst="rect">
            <a:avLst/>
          </a:prstGeom>
        </p:spPr>
        <p:txBody>
          <a:bodyPr anchor="t" rtlCol="false" tIns="0" lIns="0" bIns="0" rIns="0">
            <a:spAutoFit/>
          </a:bodyPr>
          <a:lstStyle/>
          <a:p>
            <a:pPr algn="l" marL="0" indent="0" lvl="0">
              <a:lnSpc>
                <a:spcPts val="3299"/>
              </a:lnSpc>
            </a:pPr>
            <a:r>
              <a:rPr lang="en-US" sz="2999" spc="-29">
                <a:solidFill>
                  <a:srgbClr val="C1C5DE"/>
                </a:solidFill>
                <a:latin typeface="Telegraf"/>
                <a:ea typeface="Telegraf"/>
                <a:cs typeface="Telegraf"/>
                <a:sym typeface="Telegraf"/>
              </a:rPr>
              <a:t>[Maulana Krisna Bayu Pratama]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028700"/>
            <a:ext cx="6886575" cy="8058150"/>
            <a:chOff x="0" y="0"/>
            <a:chExt cx="813829" cy="952281"/>
          </a:xfrm>
        </p:grpSpPr>
        <p:sp>
          <p:nvSpPr>
            <p:cNvPr name="Freeform 6" id="6"/>
            <p:cNvSpPr/>
            <p:nvPr/>
          </p:nvSpPr>
          <p:spPr>
            <a:xfrm flipH="false" flipV="false" rot="0">
              <a:off x="0" y="0"/>
              <a:ext cx="813829" cy="952281"/>
            </a:xfrm>
            <a:custGeom>
              <a:avLst/>
              <a:gdLst/>
              <a:ahLst/>
              <a:cxnLst/>
              <a:rect r="r" b="b" t="t" l="l"/>
              <a:pathLst>
                <a:path h="952281" w="813829">
                  <a:moveTo>
                    <a:pt x="39347" y="0"/>
                  </a:moveTo>
                  <a:lnTo>
                    <a:pt x="774482" y="0"/>
                  </a:lnTo>
                  <a:cubicBezTo>
                    <a:pt x="796213" y="0"/>
                    <a:pt x="813829" y="17616"/>
                    <a:pt x="813829" y="39347"/>
                  </a:cubicBezTo>
                  <a:lnTo>
                    <a:pt x="813829" y="912934"/>
                  </a:lnTo>
                  <a:cubicBezTo>
                    <a:pt x="813829" y="934665"/>
                    <a:pt x="796213" y="952281"/>
                    <a:pt x="774482" y="952281"/>
                  </a:cubicBezTo>
                  <a:lnTo>
                    <a:pt x="39347" y="952281"/>
                  </a:lnTo>
                  <a:cubicBezTo>
                    <a:pt x="17616" y="952281"/>
                    <a:pt x="0" y="934665"/>
                    <a:pt x="0" y="912934"/>
                  </a:cubicBezTo>
                  <a:lnTo>
                    <a:pt x="0" y="39347"/>
                  </a:lnTo>
                  <a:cubicBezTo>
                    <a:pt x="0" y="17616"/>
                    <a:pt x="17616" y="0"/>
                    <a:pt x="39347" y="0"/>
                  </a:cubicBezTo>
                  <a:close/>
                </a:path>
              </a:pathLst>
            </a:custGeom>
            <a:blipFill>
              <a:blip r:embed="rId2"/>
              <a:stretch>
                <a:fillRect l="-6239" t="0" r="-6239" b="0"/>
              </a:stretch>
            </a:blipFill>
          </p:spPr>
        </p:sp>
      </p:grpSp>
      <p:sp>
        <p:nvSpPr>
          <p:cNvPr name="AutoShape 7" id="7"/>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8" id="8"/>
          <p:cNvGrpSpPr/>
          <p:nvPr/>
        </p:nvGrpSpPr>
        <p:grpSpPr>
          <a:xfrm rot="0">
            <a:off x="8934450" y="2761979"/>
            <a:ext cx="8324850" cy="4763042"/>
            <a:chOff x="0" y="0"/>
            <a:chExt cx="11099800" cy="6350722"/>
          </a:xfrm>
        </p:grpSpPr>
        <p:sp>
          <p:nvSpPr>
            <p:cNvPr name="TextBox 9" id="9"/>
            <p:cNvSpPr txBox="true"/>
            <p:nvPr/>
          </p:nvSpPr>
          <p:spPr>
            <a:xfrm rot="0">
              <a:off x="0" y="1885403"/>
              <a:ext cx="11099800" cy="4465319"/>
            </a:xfrm>
            <a:prstGeom prst="rect">
              <a:avLst/>
            </a:prstGeom>
          </p:spPr>
          <p:txBody>
            <a:bodyPr anchor="t" rtlCol="false" tIns="0" lIns="0" bIns="0" rIns="0">
              <a:spAutoFit/>
            </a:bodyPr>
            <a:lstStyle/>
            <a:p>
              <a:pPr algn="just" marL="0" indent="0" lvl="0">
                <a:lnSpc>
                  <a:spcPts val="3360"/>
                </a:lnSpc>
              </a:pPr>
              <a:r>
                <a:rPr lang="en-US" sz="2400" spc="-24">
                  <a:solidFill>
                    <a:srgbClr val="C1C5DE"/>
                  </a:solidFill>
                  <a:latin typeface="Telegraf"/>
                  <a:ea typeface="Telegraf"/>
                  <a:cs typeface="Telegraf"/>
                  <a:sym typeface="Telegraf"/>
                </a:rPr>
                <a:t>Saya</a:t>
              </a:r>
              <a:r>
                <a:rPr lang="en-US" sz="2400" spc="-24">
                  <a:solidFill>
                    <a:srgbClr val="C1C5DE"/>
                  </a:solidFill>
                  <a:latin typeface="Telegraf"/>
                  <a:ea typeface="Telegraf"/>
                  <a:cs typeface="Telegraf"/>
                  <a:sym typeface="Telegraf"/>
                </a:rPr>
                <a:t> Maulana Krisna Bayu Pratama, Data Analyst yang antusias dengan pekejaan di bidang data. Dengan pengalaman menganalisis banyak dataset dan membuat dashboard interaktif, saya percaya data yang disajikan dengan jelas bisa mendorong keputusan bisnis yang lebih baik.</a:t>
              </a:r>
            </a:p>
            <a:p>
              <a:pPr algn="just" marL="0" indent="0" lvl="0">
                <a:lnSpc>
                  <a:spcPts val="3360"/>
                </a:lnSpc>
              </a:pPr>
            </a:p>
            <a:p>
              <a:pPr algn="just" marL="0" indent="0" lvl="0">
                <a:lnSpc>
                  <a:spcPts val="3360"/>
                </a:lnSpc>
              </a:pPr>
            </a:p>
          </p:txBody>
        </p:sp>
        <p:sp>
          <p:nvSpPr>
            <p:cNvPr name="TextBox 10" id="10"/>
            <p:cNvSpPr txBox="true"/>
            <p:nvPr/>
          </p:nvSpPr>
          <p:spPr>
            <a:xfrm rot="0">
              <a:off x="0" y="1090083"/>
              <a:ext cx="11099800" cy="628650"/>
            </a:xfrm>
            <a:prstGeom prst="rect">
              <a:avLst/>
            </a:prstGeom>
          </p:spPr>
          <p:txBody>
            <a:bodyPr anchor="t" rtlCol="false" tIns="0" lIns="0" bIns="0" rIns="0">
              <a:spAutoFit/>
            </a:bodyPr>
            <a:lstStyle/>
            <a:p>
              <a:pPr algn="just" marL="0" indent="0" lvl="0">
                <a:lnSpc>
                  <a:spcPts val="3300"/>
                </a:lnSpc>
              </a:pPr>
            </a:p>
          </p:txBody>
        </p:sp>
        <p:sp>
          <p:nvSpPr>
            <p:cNvPr name="TextBox 11" id="11"/>
            <p:cNvSpPr txBox="true"/>
            <p:nvPr/>
          </p:nvSpPr>
          <p:spPr>
            <a:xfrm rot="0">
              <a:off x="0" y="-9525"/>
              <a:ext cx="11099800" cy="1423458"/>
            </a:xfrm>
            <a:prstGeom prst="rect">
              <a:avLst/>
            </a:prstGeom>
          </p:spPr>
          <p:txBody>
            <a:bodyPr anchor="t" rtlCol="false" tIns="0" lIns="0" bIns="0" rIns="0">
              <a:spAutoFit/>
            </a:bodyPr>
            <a:lstStyle/>
            <a:p>
              <a:pPr algn="just" marL="0" indent="0" lvl="0">
                <a:lnSpc>
                  <a:spcPts val="7699"/>
                </a:lnSpc>
              </a:pPr>
              <a:r>
                <a:rPr lang="en-US" b="true" sz="6999" spc="-69">
                  <a:solidFill>
                    <a:srgbClr val="9FA8DA"/>
                  </a:solidFill>
                  <a:latin typeface="Telegraf Bold"/>
                  <a:ea typeface="Telegraf Bold"/>
                  <a:cs typeface="Telegraf Bold"/>
                  <a:sym typeface="Telegraf Bold"/>
                </a:rPr>
                <a:t>Tentang Saya</a:t>
              </a:r>
            </a:p>
          </p:txBody>
        </p:sp>
      </p:grpSp>
      <p:sp>
        <p:nvSpPr>
          <p:cNvPr name="TextBox 12" id="12"/>
          <p:cNvSpPr txBox="true"/>
          <p:nvPr/>
        </p:nvSpPr>
        <p:spPr>
          <a:xfrm rot="0">
            <a:off x="666750" y="9676442"/>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TENTANG SAYA</a:t>
            </a:r>
          </a:p>
        </p:txBody>
      </p:sp>
      <p:sp>
        <p:nvSpPr>
          <p:cNvPr name="TextBox 13" id="13"/>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9257170" y="0"/>
            <a:ext cx="9030830" cy="10287000"/>
            <a:chOff x="0" y="0"/>
            <a:chExt cx="2378490" cy="2709333"/>
          </a:xfrm>
        </p:grpSpPr>
        <p:sp>
          <p:nvSpPr>
            <p:cNvPr name="Freeform 3" id="3"/>
            <p:cNvSpPr/>
            <p:nvPr/>
          </p:nvSpPr>
          <p:spPr>
            <a:xfrm flipH="false" flipV="false" rot="0">
              <a:off x="0" y="0"/>
              <a:ext cx="2378490" cy="2709333"/>
            </a:xfrm>
            <a:custGeom>
              <a:avLst/>
              <a:gdLst/>
              <a:ahLst/>
              <a:cxnLst/>
              <a:rect r="r" b="b" t="t" l="l"/>
              <a:pathLst>
                <a:path h="2709333" w="2378490">
                  <a:moveTo>
                    <a:pt x="0" y="0"/>
                  </a:moveTo>
                  <a:lnTo>
                    <a:pt x="2378490" y="0"/>
                  </a:lnTo>
                  <a:lnTo>
                    <a:pt x="2378490" y="2709333"/>
                  </a:lnTo>
                  <a:lnTo>
                    <a:pt x="0" y="2709333"/>
                  </a:lnTo>
                  <a:close/>
                </a:path>
              </a:pathLst>
            </a:custGeom>
            <a:solidFill>
              <a:srgbClr val="3B2A6C"/>
            </a:solidFill>
          </p:spPr>
        </p:sp>
        <p:sp>
          <p:nvSpPr>
            <p:cNvPr name="TextBox 4" id="4"/>
            <p:cNvSpPr txBox="true"/>
            <p:nvPr/>
          </p:nvSpPr>
          <p:spPr>
            <a:xfrm>
              <a:off x="0" y="-76200"/>
              <a:ext cx="2378490" cy="2785533"/>
            </a:xfrm>
            <a:prstGeom prst="rect">
              <a:avLst/>
            </a:prstGeom>
          </p:spPr>
          <p:txBody>
            <a:bodyPr anchor="ctr" rtlCol="false" tIns="50800" lIns="50800" bIns="50800" rIns="50800"/>
            <a:lstStyle/>
            <a:p>
              <a:pPr algn="ctr">
                <a:lnSpc>
                  <a:spcPts val="2800"/>
                </a:lnSpc>
              </a:pPr>
            </a:p>
          </p:txBody>
        </p:sp>
      </p:grpSp>
      <p:sp>
        <p:nvSpPr>
          <p:cNvPr name="AutoShape 5" id="5"/>
          <p:cNvSpPr/>
          <p:nvPr/>
        </p:nvSpPr>
        <p:spPr>
          <a:xfrm>
            <a:off x="666750" y="9620250"/>
            <a:ext cx="16954500" cy="0"/>
          </a:xfrm>
          <a:prstGeom prst="line">
            <a:avLst/>
          </a:prstGeom>
          <a:ln cap="flat" w="9525">
            <a:solidFill>
              <a:srgbClr val="9FA8DA"/>
            </a:solidFill>
            <a:prstDash val="solid"/>
            <a:headEnd type="none" len="sm" w="sm"/>
            <a:tailEnd type="none" len="sm" w="sm"/>
          </a:ln>
        </p:spPr>
      </p:sp>
      <p:sp>
        <p:nvSpPr>
          <p:cNvPr name="TextBox 6" id="6"/>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HARD </a:t>
            </a:r>
            <a:r>
              <a:rPr lang="en-US" b="true" sz="1200" spc="-12">
                <a:solidFill>
                  <a:srgbClr val="C1C5DE"/>
                </a:solidFill>
                <a:latin typeface="Telegraf Bold"/>
                <a:ea typeface="Telegraf Bold"/>
                <a:cs typeface="Telegraf Bold"/>
                <a:sym typeface="Telegraf Bold"/>
              </a:rPr>
              <a:t>SKILL + SOFT SKILL</a:t>
            </a:r>
          </a:p>
        </p:txBody>
      </p:sp>
      <p:sp>
        <p:nvSpPr>
          <p:cNvPr name="TextBox 7" id="7"/>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3</a:t>
            </a:r>
          </a:p>
        </p:txBody>
      </p:sp>
      <p:sp>
        <p:nvSpPr>
          <p:cNvPr name="TextBox 8" id="8"/>
          <p:cNvSpPr txBox="true"/>
          <p:nvPr/>
        </p:nvSpPr>
        <p:spPr>
          <a:xfrm rot="0">
            <a:off x="2867792" y="4603750"/>
            <a:ext cx="12552417" cy="2041525"/>
          </a:xfrm>
          <a:prstGeom prst="rect">
            <a:avLst/>
          </a:prstGeom>
        </p:spPr>
        <p:txBody>
          <a:bodyPr anchor="t" rtlCol="false" tIns="0" lIns="0" bIns="0" rIns="0">
            <a:spAutoFit/>
          </a:bodyPr>
          <a:lstStyle/>
          <a:p>
            <a:pPr algn="ctr">
              <a:lnSpc>
                <a:spcPts val="7699"/>
              </a:lnSpc>
            </a:pPr>
            <a:r>
              <a:rPr lang="en-US" b="true" sz="6999" spc="-69">
                <a:solidFill>
                  <a:srgbClr val="9FA8DA"/>
                </a:solidFill>
                <a:latin typeface="Telegraf Bold"/>
                <a:ea typeface="Telegraf Bold"/>
                <a:cs typeface="Telegraf Bold"/>
                <a:sym typeface="Telegraf Bold"/>
              </a:rPr>
              <a:t>Hard Skill + Soft Skill</a:t>
            </a:r>
          </a:p>
          <a:p>
            <a:pPr algn="ctr" marL="0" indent="0" lvl="0">
              <a:lnSpc>
                <a:spcPts val="769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0" y="0"/>
            <a:ext cx="666750" cy="10287000"/>
            <a:chOff x="0" y="0"/>
            <a:chExt cx="175605" cy="2709333"/>
          </a:xfrm>
        </p:grpSpPr>
        <p:sp>
          <p:nvSpPr>
            <p:cNvPr name="Freeform 3" id="3"/>
            <p:cNvSpPr/>
            <p:nvPr/>
          </p:nvSpPr>
          <p:spPr>
            <a:xfrm flipH="false" flipV="false" rot="0">
              <a:off x="0" y="0"/>
              <a:ext cx="175605" cy="2709333"/>
            </a:xfrm>
            <a:custGeom>
              <a:avLst/>
              <a:gdLst/>
              <a:ahLst/>
              <a:cxnLst/>
              <a:rect r="r" b="b" t="t" l="l"/>
              <a:pathLst>
                <a:path h="2709333" w="175605">
                  <a:moveTo>
                    <a:pt x="0" y="0"/>
                  </a:moveTo>
                  <a:lnTo>
                    <a:pt x="175605" y="0"/>
                  </a:lnTo>
                  <a:lnTo>
                    <a:pt x="175605" y="2709333"/>
                  </a:lnTo>
                  <a:lnTo>
                    <a:pt x="0" y="2709333"/>
                  </a:lnTo>
                  <a:close/>
                </a:path>
              </a:pathLst>
            </a:custGeom>
            <a:solidFill>
              <a:srgbClr val="3B2A6C"/>
            </a:solidFill>
          </p:spPr>
        </p:sp>
        <p:sp>
          <p:nvSpPr>
            <p:cNvPr name="TextBox 4" id="4"/>
            <p:cNvSpPr txBox="true"/>
            <p:nvPr/>
          </p:nvSpPr>
          <p:spPr>
            <a:xfrm>
              <a:off x="0" y="-76200"/>
              <a:ext cx="175605" cy="2785533"/>
            </a:xfrm>
            <a:prstGeom prst="rect">
              <a:avLst/>
            </a:prstGeom>
          </p:spPr>
          <p:txBody>
            <a:bodyPr anchor="ctr" rtlCol="false" tIns="50800" lIns="50800" bIns="50800" rIns="50800"/>
            <a:lstStyle/>
            <a:p>
              <a:pPr algn="ctr">
                <a:lnSpc>
                  <a:spcPts val="2800"/>
                </a:lnSpc>
              </a:pPr>
            </a:p>
          </p:txBody>
        </p:sp>
      </p:grpSp>
      <p:sp>
        <p:nvSpPr>
          <p:cNvPr name="AutoShape 5" id="5"/>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6" id="6"/>
          <p:cNvGrpSpPr/>
          <p:nvPr/>
        </p:nvGrpSpPr>
        <p:grpSpPr>
          <a:xfrm rot="0">
            <a:off x="1447014" y="2516755"/>
            <a:ext cx="3222409" cy="283177"/>
            <a:chOff x="0" y="0"/>
            <a:chExt cx="997918" cy="87694"/>
          </a:xfrm>
        </p:grpSpPr>
        <p:sp>
          <p:nvSpPr>
            <p:cNvPr name="Freeform 7" id="7"/>
            <p:cNvSpPr/>
            <p:nvPr/>
          </p:nvSpPr>
          <p:spPr>
            <a:xfrm flipH="false" flipV="false" rot="0">
              <a:off x="0" y="0"/>
              <a:ext cx="997918" cy="87694"/>
            </a:xfrm>
            <a:custGeom>
              <a:avLst/>
              <a:gdLst/>
              <a:ahLst/>
              <a:cxnLst/>
              <a:rect r="r" b="b" t="t" l="l"/>
              <a:pathLst>
                <a:path h="87694" w="997918">
                  <a:moveTo>
                    <a:pt x="997918" y="43847"/>
                  </a:moveTo>
                  <a:lnTo>
                    <a:pt x="997918" y="43847"/>
                  </a:lnTo>
                  <a:cubicBezTo>
                    <a:pt x="997918" y="55476"/>
                    <a:pt x="993299" y="66629"/>
                    <a:pt x="985076" y="74852"/>
                  </a:cubicBezTo>
                  <a:cubicBezTo>
                    <a:pt x="976853" y="83075"/>
                    <a:pt x="965700" y="87694"/>
                    <a:pt x="954071" y="87694"/>
                  </a:cubicBezTo>
                  <a:lnTo>
                    <a:pt x="43847" y="87694"/>
                  </a:lnTo>
                  <a:cubicBezTo>
                    <a:pt x="19631" y="87694"/>
                    <a:pt x="0" y="68063"/>
                    <a:pt x="0" y="43847"/>
                  </a:cubicBezTo>
                  <a:lnTo>
                    <a:pt x="0" y="43847"/>
                  </a:lnTo>
                  <a:cubicBezTo>
                    <a:pt x="0" y="19631"/>
                    <a:pt x="19631" y="0"/>
                    <a:pt x="43847" y="0"/>
                  </a:cubicBezTo>
                  <a:lnTo>
                    <a:pt x="954071" y="0"/>
                  </a:lnTo>
                  <a:cubicBezTo>
                    <a:pt x="978287" y="0"/>
                    <a:pt x="997918" y="19631"/>
                    <a:pt x="997918" y="43847"/>
                  </a:cubicBezTo>
                  <a:close/>
                </a:path>
              </a:pathLst>
            </a:custGeom>
            <a:solidFill>
              <a:srgbClr val="C1C5DE"/>
            </a:solidFill>
          </p:spPr>
        </p:sp>
        <p:sp>
          <p:nvSpPr>
            <p:cNvPr name="TextBox 8" id="8"/>
            <p:cNvSpPr txBox="true"/>
            <p:nvPr/>
          </p:nvSpPr>
          <p:spPr>
            <a:xfrm>
              <a:off x="0" y="-76200"/>
              <a:ext cx="997918" cy="163894"/>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694664" y="3505596"/>
            <a:ext cx="6697428" cy="912514"/>
            <a:chOff x="0" y="0"/>
            <a:chExt cx="8929904" cy="1216685"/>
          </a:xfrm>
        </p:grpSpPr>
        <p:sp>
          <p:nvSpPr>
            <p:cNvPr name="TextBox 10" id="10"/>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SQL</a:t>
              </a:r>
            </a:p>
          </p:txBody>
        </p:sp>
        <p:sp>
          <p:nvSpPr>
            <p:cNvPr name="TextBox 11" id="11"/>
            <p:cNvSpPr txBox="true"/>
            <p:nvPr/>
          </p:nvSpPr>
          <p:spPr>
            <a:xfrm rot="0">
              <a:off x="880268" y="738318"/>
              <a:ext cx="8049636"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Q</a:t>
              </a:r>
              <a:r>
                <a:rPr lang="en-US" sz="2000" spc="-20">
                  <a:solidFill>
                    <a:srgbClr val="C1C5DE"/>
                  </a:solidFill>
                  <a:latin typeface="Telegraf"/>
                  <a:ea typeface="Telegraf"/>
                  <a:cs typeface="Telegraf"/>
                  <a:sym typeface="Telegraf"/>
                </a:rPr>
                <a:t>uery dan manipulasi data dari database</a:t>
              </a:r>
            </a:p>
          </p:txBody>
        </p:sp>
      </p:grpSp>
      <p:sp>
        <p:nvSpPr>
          <p:cNvPr name="TextBox 12" id="12"/>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HARD </a:t>
            </a:r>
            <a:r>
              <a:rPr lang="en-US" b="true" sz="1200" spc="-12">
                <a:solidFill>
                  <a:srgbClr val="C1C5DE"/>
                </a:solidFill>
                <a:latin typeface="Telegraf Bold"/>
                <a:ea typeface="Telegraf Bold"/>
                <a:cs typeface="Telegraf Bold"/>
                <a:sym typeface="Telegraf Bold"/>
              </a:rPr>
              <a:t>SKILL + SOFT SKILL</a:t>
            </a:r>
          </a:p>
        </p:txBody>
      </p:sp>
      <p:sp>
        <p:nvSpPr>
          <p:cNvPr name="TextBox 13" id="13"/>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4</a:t>
            </a:r>
          </a:p>
        </p:txBody>
      </p:sp>
      <p:sp>
        <p:nvSpPr>
          <p:cNvPr name="TextBox 14" id="14"/>
          <p:cNvSpPr txBox="true"/>
          <p:nvPr/>
        </p:nvSpPr>
        <p:spPr>
          <a:xfrm rot="0">
            <a:off x="1226135" y="1487712"/>
            <a:ext cx="6886575" cy="799338"/>
          </a:xfrm>
          <a:prstGeom prst="rect">
            <a:avLst/>
          </a:prstGeom>
        </p:spPr>
        <p:txBody>
          <a:bodyPr anchor="t" rtlCol="false" tIns="0" lIns="0" bIns="0" rIns="0">
            <a:spAutoFit/>
          </a:bodyPr>
          <a:lstStyle/>
          <a:p>
            <a:pPr algn="l" marL="0" indent="0" lvl="0">
              <a:lnSpc>
                <a:spcPts val="5709"/>
              </a:lnSpc>
            </a:pPr>
            <a:r>
              <a:rPr lang="en-US" b="true" sz="5190" spc="-51">
                <a:solidFill>
                  <a:srgbClr val="9FA8DA"/>
                </a:solidFill>
                <a:latin typeface="Telegraf Bold"/>
                <a:ea typeface="Telegraf Bold"/>
                <a:cs typeface="Telegraf Bold"/>
                <a:sym typeface="Telegraf Bold"/>
              </a:rPr>
              <a:t>Hard Skill</a:t>
            </a:r>
          </a:p>
        </p:txBody>
      </p:sp>
      <p:grpSp>
        <p:nvGrpSpPr>
          <p:cNvPr name="Group 15" id="15"/>
          <p:cNvGrpSpPr/>
          <p:nvPr/>
        </p:nvGrpSpPr>
        <p:grpSpPr>
          <a:xfrm rot="0">
            <a:off x="1694664" y="4971346"/>
            <a:ext cx="6697428" cy="912514"/>
            <a:chOff x="0" y="0"/>
            <a:chExt cx="8929904" cy="1216685"/>
          </a:xfrm>
        </p:grpSpPr>
        <p:sp>
          <p:nvSpPr>
            <p:cNvPr name="TextBox 16" id="16"/>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Python</a:t>
              </a:r>
            </a:p>
          </p:txBody>
        </p:sp>
        <p:sp>
          <p:nvSpPr>
            <p:cNvPr name="TextBox 17" id="17"/>
            <p:cNvSpPr txBox="true"/>
            <p:nvPr/>
          </p:nvSpPr>
          <p:spPr>
            <a:xfrm rot="0">
              <a:off x="880268" y="738318"/>
              <a:ext cx="8049636"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Pan</a:t>
              </a:r>
              <a:r>
                <a:rPr lang="en-US" sz="2000" spc="-20">
                  <a:solidFill>
                    <a:srgbClr val="C1C5DE"/>
                  </a:solidFill>
                  <a:latin typeface="Telegraf"/>
                  <a:ea typeface="Telegraf"/>
                  <a:cs typeface="Telegraf"/>
                  <a:sym typeface="Telegraf"/>
                </a:rPr>
                <a:t>das, NumPy, Matplotlib, Seaborn</a:t>
              </a:r>
            </a:p>
          </p:txBody>
        </p:sp>
      </p:grpSp>
      <p:grpSp>
        <p:nvGrpSpPr>
          <p:cNvPr name="Group 18" id="18"/>
          <p:cNvGrpSpPr/>
          <p:nvPr/>
        </p:nvGrpSpPr>
        <p:grpSpPr>
          <a:xfrm rot="0">
            <a:off x="1694664" y="6436310"/>
            <a:ext cx="6697428" cy="912514"/>
            <a:chOff x="0" y="0"/>
            <a:chExt cx="8929904" cy="1216685"/>
          </a:xfrm>
        </p:grpSpPr>
        <p:sp>
          <p:nvSpPr>
            <p:cNvPr name="TextBox 19" id="19"/>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Excel</a:t>
              </a:r>
            </a:p>
          </p:txBody>
        </p:sp>
        <p:sp>
          <p:nvSpPr>
            <p:cNvPr name="TextBox 20" id="20"/>
            <p:cNvSpPr txBox="true"/>
            <p:nvPr/>
          </p:nvSpPr>
          <p:spPr>
            <a:xfrm rot="0">
              <a:off x="880268" y="738318"/>
              <a:ext cx="8049636"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A</a:t>
              </a:r>
              <a:r>
                <a:rPr lang="en-US" sz="2000" spc="-20">
                  <a:solidFill>
                    <a:srgbClr val="C1C5DE"/>
                  </a:solidFill>
                  <a:latin typeface="Telegraf"/>
                  <a:ea typeface="Telegraf"/>
                  <a:cs typeface="Telegraf"/>
                  <a:sym typeface="Telegraf"/>
                </a:rPr>
                <a:t>nalisis data dan visualisasi lanjutan</a:t>
              </a:r>
            </a:p>
          </p:txBody>
        </p:sp>
      </p:grpSp>
      <p:grpSp>
        <p:nvGrpSpPr>
          <p:cNvPr name="Group 21" id="21"/>
          <p:cNvGrpSpPr/>
          <p:nvPr/>
        </p:nvGrpSpPr>
        <p:grpSpPr>
          <a:xfrm rot="0">
            <a:off x="1694664" y="7902060"/>
            <a:ext cx="6697428" cy="1264939"/>
            <a:chOff x="0" y="0"/>
            <a:chExt cx="8929904" cy="1686585"/>
          </a:xfrm>
        </p:grpSpPr>
        <p:sp>
          <p:nvSpPr>
            <p:cNvPr name="TextBox 22" id="22"/>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Looker / Power BI / Tableau</a:t>
              </a:r>
            </a:p>
          </p:txBody>
        </p:sp>
        <p:sp>
          <p:nvSpPr>
            <p:cNvPr name="TextBox 23" id="23"/>
            <p:cNvSpPr txBox="true"/>
            <p:nvPr/>
          </p:nvSpPr>
          <p:spPr>
            <a:xfrm rot="0">
              <a:off x="880268" y="738318"/>
              <a:ext cx="8049636" cy="9482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Dashboa</a:t>
              </a:r>
              <a:r>
                <a:rPr lang="en-US" sz="2000" spc="-20">
                  <a:solidFill>
                    <a:srgbClr val="C1C5DE"/>
                  </a:solidFill>
                  <a:latin typeface="Telegraf"/>
                  <a:ea typeface="Telegraf"/>
                  <a:cs typeface="Telegraf"/>
                  <a:sym typeface="Telegraf"/>
                </a:rPr>
                <a:t>rd interaktif dan visualisasi</a:t>
              </a:r>
            </a:p>
            <a:p>
              <a:pPr algn="just" marL="0" indent="0" lvl="0">
                <a:lnSpc>
                  <a:spcPts val="2800"/>
                </a:lnSpc>
              </a:pPr>
            </a:p>
          </p:txBody>
        </p:sp>
      </p:grpSp>
      <p:grpSp>
        <p:nvGrpSpPr>
          <p:cNvPr name="Group 24" id="24"/>
          <p:cNvGrpSpPr/>
          <p:nvPr/>
        </p:nvGrpSpPr>
        <p:grpSpPr>
          <a:xfrm rot="0">
            <a:off x="8587374" y="3505596"/>
            <a:ext cx="8844729" cy="927776"/>
            <a:chOff x="0" y="0"/>
            <a:chExt cx="11792972" cy="1237035"/>
          </a:xfrm>
        </p:grpSpPr>
        <p:sp>
          <p:nvSpPr>
            <p:cNvPr name="TextBox 25" id="25"/>
            <p:cNvSpPr txBox="true"/>
            <p:nvPr/>
          </p:nvSpPr>
          <p:spPr>
            <a:xfrm rot="0">
              <a:off x="0" y="-19050"/>
              <a:ext cx="11792972"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PowerPoint / Canva</a:t>
              </a:r>
            </a:p>
          </p:txBody>
        </p:sp>
        <p:sp>
          <p:nvSpPr>
            <p:cNvPr name="TextBox 26" id="26"/>
            <p:cNvSpPr txBox="true"/>
            <p:nvPr/>
          </p:nvSpPr>
          <p:spPr>
            <a:xfrm rot="0">
              <a:off x="856371" y="758668"/>
              <a:ext cx="10630475"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Memb</a:t>
              </a:r>
              <a:r>
                <a:rPr lang="en-US" sz="2000" spc="-20">
                  <a:solidFill>
                    <a:srgbClr val="C1C5DE"/>
                  </a:solidFill>
                  <a:latin typeface="Telegraf"/>
                  <a:ea typeface="Telegraf"/>
                  <a:cs typeface="Telegraf"/>
                  <a:sym typeface="Telegraf"/>
                </a:rPr>
                <a:t>uat presentasi profesional, dashboard visual, dan infografis</a:t>
              </a:r>
            </a:p>
          </p:txBody>
        </p:sp>
      </p:grpSp>
      <p:grpSp>
        <p:nvGrpSpPr>
          <p:cNvPr name="Group 27" id="27"/>
          <p:cNvGrpSpPr/>
          <p:nvPr/>
        </p:nvGrpSpPr>
        <p:grpSpPr>
          <a:xfrm rot="0">
            <a:off x="8587374" y="4971346"/>
            <a:ext cx="7894443" cy="1264939"/>
            <a:chOff x="0" y="0"/>
            <a:chExt cx="10525924" cy="1686585"/>
          </a:xfrm>
        </p:grpSpPr>
        <p:sp>
          <p:nvSpPr>
            <p:cNvPr name="TextBox 28" id="28"/>
            <p:cNvSpPr txBox="true"/>
            <p:nvPr/>
          </p:nvSpPr>
          <p:spPr>
            <a:xfrm rot="0">
              <a:off x="0" y="-19050"/>
              <a:ext cx="8610700"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HTML</a:t>
              </a:r>
            </a:p>
          </p:txBody>
        </p:sp>
        <p:sp>
          <p:nvSpPr>
            <p:cNvPr name="TextBox 29" id="29"/>
            <p:cNvSpPr txBox="true"/>
            <p:nvPr/>
          </p:nvSpPr>
          <p:spPr>
            <a:xfrm rot="0">
              <a:off x="848803" y="738318"/>
              <a:ext cx="9677122" cy="9482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Str</a:t>
              </a:r>
              <a:r>
                <a:rPr lang="en-US" sz="2000" spc="-20">
                  <a:solidFill>
                    <a:srgbClr val="C1C5DE"/>
                  </a:solidFill>
                  <a:latin typeface="Telegraf"/>
                  <a:ea typeface="Telegraf"/>
                  <a:cs typeface="Telegraf"/>
                  <a:sym typeface="Telegraf"/>
                </a:rPr>
                <a:t>uktur dasar halaman web yang semantik dan responsif</a:t>
              </a:r>
            </a:p>
            <a:p>
              <a:pPr algn="just" marL="0" indent="0" lvl="0">
                <a:lnSpc>
                  <a:spcPts val="2800"/>
                </a:lnSpc>
              </a:pPr>
            </a:p>
          </p:txBody>
        </p:sp>
      </p:grpSp>
      <p:grpSp>
        <p:nvGrpSpPr>
          <p:cNvPr name="Group 30" id="30"/>
          <p:cNvGrpSpPr/>
          <p:nvPr/>
        </p:nvGrpSpPr>
        <p:grpSpPr>
          <a:xfrm rot="0">
            <a:off x="8587374" y="6436310"/>
            <a:ext cx="6697428" cy="912514"/>
            <a:chOff x="0" y="0"/>
            <a:chExt cx="8929904" cy="1216685"/>
          </a:xfrm>
        </p:grpSpPr>
        <p:sp>
          <p:nvSpPr>
            <p:cNvPr name="TextBox 31" id="31"/>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CSS</a:t>
              </a:r>
            </a:p>
          </p:txBody>
        </p:sp>
        <p:sp>
          <p:nvSpPr>
            <p:cNvPr name="TextBox 32" id="32"/>
            <p:cNvSpPr txBox="true"/>
            <p:nvPr/>
          </p:nvSpPr>
          <p:spPr>
            <a:xfrm rot="0">
              <a:off x="880268" y="738318"/>
              <a:ext cx="8049636"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D</a:t>
              </a:r>
              <a:r>
                <a:rPr lang="en-US" sz="2000" spc="-20">
                  <a:solidFill>
                    <a:srgbClr val="C1C5DE"/>
                  </a:solidFill>
                  <a:latin typeface="Telegraf"/>
                  <a:ea typeface="Telegraf"/>
                  <a:cs typeface="Telegraf"/>
                  <a:sym typeface="Telegraf"/>
                </a:rPr>
                <a:t>esain visual, layout modern, dan animasi interaktif</a:t>
              </a:r>
            </a:p>
          </p:txBody>
        </p:sp>
      </p:grpSp>
      <p:grpSp>
        <p:nvGrpSpPr>
          <p:cNvPr name="Group 33" id="33"/>
          <p:cNvGrpSpPr/>
          <p:nvPr/>
        </p:nvGrpSpPr>
        <p:grpSpPr>
          <a:xfrm rot="0">
            <a:off x="8587374" y="7902060"/>
            <a:ext cx="6697428" cy="912514"/>
            <a:chOff x="0" y="0"/>
            <a:chExt cx="8929904" cy="1216685"/>
          </a:xfrm>
        </p:grpSpPr>
        <p:sp>
          <p:nvSpPr>
            <p:cNvPr name="TextBox 34" id="34"/>
            <p:cNvSpPr txBox="true"/>
            <p:nvPr/>
          </p:nvSpPr>
          <p:spPr>
            <a:xfrm rot="0">
              <a:off x="0" y="-19050"/>
              <a:ext cx="8929904" cy="628650"/>
            </a:xfrm>
            <a:prstGeom prst="rect">
              <a:avLst/>
            </a:prstGeom>
          </p:spPr>
          <p:txBody>
            <a:bodyPr anchor="t" rtlCol="false" tIns="0" lIns="0" bIns="0" rIns="0">
              <a:spAutoFit/>
            </a:bodyPr>
            <a:lstStyle/>
            <a:p>
              <a:pPr algn="l" marL="647700" indent="-323850" lvl="1">
                <a:lnSpc>
                  <a:spcPts val="3300"/>
                </a:lnSpc>
                <a:buFont typeface="Arial"/>
                <a:buChar char="•"/>
              </a:pPr>
              <a:r>
                <a:rPr lang="en-US" b="true" sz="3000" spc="-30">
                  <a:solidFill>
                    <a:srgbClr val="A292D9"/>
                  </a:solidFill>
                  <a:latin typeface="Telegraf Bold"/>
                  <a:ea typeface="Telegraf Bold"/>
                  <a:cs typeface="Telegraf Bold"/>
                  <a:sym typeface="Telegraf Bold"/>
                </a:rPr>
                <a:t>JavaScript</a:t>
              </a:r>
            </a:p>
          </p:txBody>
        </p:sp>
        <p:sp>
          <p:nvSpPr>
            <p:cNvPr name="TextBox 35" id="35"/>
            <p:cNvSpPr txBox="true"/>
            <p:nvPr/>
          </p:nvSpPr>
          <p:spPr>
            <a:xfrm rot="0">
              <a:off x="880268" y="738318"/>
              <a:ext cx="8049636" cy="4783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Int</a:t>
              </a:r>
              <a:r>
                <a:rPr lang="en-US" sz="2000" spc="-20">
                  <a:solidFill>
                    <a:srgbClr val="C1C5DE"/>
                  </a:solidFill>
                  <a:latin typeface="Telegraf"/>
                  <a:ea typeface="Telegraf"/>
                  <a:cs typeface="Telegraf"/>
                  <a:sym typeface="Telegraf"/>
                </a:rPr>
                <a:t>eraktivitas, manipulasi DOM, dan integrasi API</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7858125" y="1562100"/>
            <a:ext cx="2571750" cy="1790700"/>
            <a:chOff x="0" y="0"/>
            <a:chExt cx="1167319" cy="812800"/>
          </a:xfrm>
        </p:grpSpPr>
        <p:sp>
          <p:nvSpPr>
            <p:cNvPr name="Freeform 3" id="3"/>
            <p:cNvSpPr/>
            <p:nvPr/>
          </p:nvSpPr>
          <p:spPr>
            <a:xfrm flipH="false" flipV="false" rot="0">
              <a:off x="0" y="0"/>
              <a:ext cx="1167319" cy="812800"/>
            </a:xfrm>
            <a:custGeom>
              <a:avLst/>
              <a:gdLst/>
              <a:ahLst/>
              <a:cxnLst/>
              <a:rect r="r" b="b" t="t" l="l"/>
              <a:pathLst>
                <a:path h="812800" w="1167319">
                  <a:moveTo>
                    <a:pt x="69239" y="0"/>
                  </a:moveTo>
                  <a:lnTo>
                    <a:pt x="1098081" y="0"/>
                  </a:lnTo>
                  <a:cubicBezTo>
                    <a:pt x="1136320" y="0"/>
                    <a:pt x="1167319" y="30999"/>
                    <a:pt x="1167319" y="69239"/>
                  </a:cubicBezTo>
                  <a:lnTo>
                    <a:pt x="1167319" y="743561"/>
                  </a:lnTo>
                  <a:cubicBezTo>
                    <a:pt x="1167319" y="761925"/>
                    <a:pt x="1160024" y="779536"/>
                    <a:pt x="1147040" y="792521"/>
                  </a:cubicBezTo>
                  <a:cubicBezTo>
                    <a:pt x="1134055" y="805505"/>
                    <a:pt x="1116444" y="812800"/>
                    <a:pt x="1098081" y="812800"/>
                  </a:cubicBezTo>
                  <a:lnTo>
                    <a:pt x="69239" y="812800"/>
                  </a:lnTo>
                  <a:cubicBezTo>
                    <a:pt x="50875" y="812800"/>
                    <a:pt x="33264" y="805505"/>
                    <a:pt x="20279" y="792521"/>
                  </a:cubicBezTo>
                  <a:cubicBezTo>
                    <a:pt x="7295" y="779536"/>
                    <a:pt x="0" y="761925"/>
                    <a:pt x="0" y="743561"/>
                  </a:cubicBezTo>
                  <a:lnTo>
                    <a:pt x="0" y="69239"/>
                  </a:lnTo>
                  <a:cubicBezTo>
                    <a:pt x="0" y="50875"/>
                    <a:pt x="7295" y="33264"/>
                    <a:pt x="20279" y="20279"/>
                  </a:cubicBezTo>
                  <a:cubicBezTo>
                    <a:pt x="33264" y="7295"/>
                    <a:pt x="50875" y="0"/>
                    <a:pt x="69239" y="0"/>
                  </a:cubicBezTo>
                  <a:close/>
                </a:path>
              </a:pathLst>
            </a:custGeom>
            <a:blipFill>
              <a:blip r:embed="rId2"/>
              <a:stretch>
                <a:fillRect l="-365" t="0" r="-365" b="0"/>
              </a:stretch>
            </a:blipFill>
          </p:spPr>
        </p:sp>
      </p:grpSp>
      <p:grpSp>
        <p:nvGrpSpPr>
          <p:cNvPr name="Group 4" id="4"/>
          <p:cNvGrpSpPr/>
          <p:nvPr/>
        </p:nvGrpSpPr>
        <p:grpSpPr>
          <a:xfrm rot="0">
            <a:off x="7858125" y="4248076"/>
            <a:ext cx="2571750" cy="1790774"/>
            <a:chOff x="0" y="0"/>
            <a:chExt cx="1167319" cy="812834"/>
          </a:xfrm>
        </p:grpSpPr>
        <p:sp>
          <p:nvSpPr>
            <p:cNvPr name="Freeform 5" id="5"/>
            <p:cNvSpPr/>
            <p:nvPr/>
          </p:nvSpPr>
          <p:spPr>
            <a:xfrm flipH="false" flipV="false" rot="0">
              <a:off x="0" y="0"/>
              <a:ext cx="1167319" cy="812834"/>
            </a:xfrm>
            <a:custGeom>
              <a:avLst/>
              <a:gdLst/>
              <a:ahLst/>
              <a:cxnLst/>
              <a:rect r="r" b="b" t="t" l="l"/>
              <a:pathLst>
                <a:path h="812834" w="1167319">
                  <a:moveTo>
                    <a:pt x="69239" y="0"/>
                  </a:moveTo>
                  <a:lnTo>
                    <a:pt x="1098081" y="0"/>
                  </a:lnTo>
                  <a:cubicBezTo>
                    <a:pt x="1136320" y="0"/>
                    <a:pt x="1167319" y="30999"/>
                    <a:pt x="1167319" y="69239"/>
                  </a:cubicBezTo>
                  <a:lnTo>
                    <a:pt x="1167319" y="743595"/>
                  </a:lnTo>
                  <a:cubicBezTo>
                    <a:pt x="1167319" y="761958"/>
                    <a:pt x="1160024" y="779570"/>
                    <a:pt x="1147040" y="792554"/>
                  </a:cubicBezTo>
                  <a:cubicBezTo>
                    <a:pt x="1134055" y="805539"/>
                    <a:pt x="1116444" y="812834"/>
                    <a:pt x="1098081" y="812834"/>
                  </a:cubicBezTo>
                  <a:lnTo>
                    <a:pt x="69239" y="812834"/>
                  </a:lnTo>
                  <a:cubicBezTo>
                    <a:pt x="50875" y="812834"/>
                    <a:pt x="33264" y="805539"/>
                    <a:pt x="20279" y="792554"/>
                  </a:cubicBezTo>
                  <a:cubicBezTo>
                    <a:pt x="7295" y="779570"/>
                    <a:pt x="0" y="761958"/>
                    <a:pt x="0" y="743595"/>
                  </a:cubicBezTo>
                  <a:lnTo>
                    <a:pt x="0" y="69239"/>
                  </a:lnTo>
                  <a:cubicBezTo>
                    <a:pt x="0" y="50875"/>
                    <a:pt x="7295" y="33264"/>
                    <a:pt x="20279" y="20279"/>
                  </a:cubicBezTo>
                  <a:cubicBezTo>
                    <a:pt x="33264" y="7295"/>
                    <a:pt x="50875" y="0"/>
                    <a:pt x="69239" y="0"/>
                  </a:cubicBezTo>
                  <a:close/>
                </a:path>
              </a:pathLst>
            </a:custGeom>
            <a:blipFill>
              <a:blip r:embed="rId3"/>
              <a:stretch>
                <a:fillRect l="0" t="-7179" r="0" b="-28569"/>
              </a:stretch>
            </a:blipFill>
          </p:spPr>
        </p:sp>
      </p:grpSp>
      <p:grpSp>
        <p:nvGrpSpPr>
          <p:cNvPr name="Group 6" id="6"/>
          <p:cNvGrpSpPr/>
          <p:nvPr/>
        </p:nvGrpSpPr>
        <p:grpSpPr>
          <a:xfrm rot="0">
            <a:off x="7858125" y="6934126"/>
            <a:ext cx="2571750" cy="1790774"/>
            <a:chOff x="0" y="0"/>
            <a:chExt cx="1167319" cy="812834"/>
          </a:xfrm>
        </p:grpSpPr>
        <p:sp>
          <p:nvSpPr>
            <p:cNvPr name="Freeform 7" id="7"/>
            <p:cNvSpPr/>
            <p:nvPr/>
          </p:nvSpPr>
          <p:spPr>
            <a:xfrm flipH="false" flipV="false" rot="0">
              <a:off x="0" y="0"/>
              <a:ext cx="1167319" cy="812834"/>
            </a:xfrm>
            <a:custGeom>
              <a:avLst/>
              <a:gdLst/>
              <a:ahLst/>
              <a:cxnLst/>
              <a:rect r="r" b="b" t="t" l="l"/>
              <a:pathLst>
                <a:path h="812834" w="1167319">
                  <a:moveTo>
                    <a:pt x="69239" y="0"/>
                  </a:moveTo>
                  <a:lnTo>
                    <a:pt x="1098081" y="0"/>
                  </a:lnTo>
                  <a:cubicBezTo>
                    <a:pt x="1136320" y="0"/>
                    <a:pt x="1167319" y="30999"/>
                    <a:pt x="1167319" y="69239"/>
                  </a:cubicBezTo>
                  <a:lnTo>
                    <a:pt x="1167319" y="743595"/>
                  </a:lnTo>
                  <a:cubicBezTo>
                    <a:pt x="1167319" y="761958"/>
                    <a:pt x="1160024" y="779570"/>
                    <a:pt x="1147040" y="792554"/>
                  </a:cubicBezTo>
                  <a:cubicBezTo>
                    <a:pt x="1134055" y="805539"/>
                    <a:pt x="1116444" y="812834"/>
                    <a:pt x="1098081" y="812834"/>
                  </a:cubicBezTo>
                  <a:lnTo>
                    <a:pt x="69239" y="812834"/>
                  </a:lnTo>
                  <a:cubicBezTo>
                    <a:pt x="50875" y="812834"/>
                    <a:pt x="33264" y="805539"/>
                    <a:pt x="20279" y="792554"/>
                  </a:cubicBezTo>
                  <a:cubicBezTo>
                    <a:pt x="7295" y="779570"/>
                    <a:pt x="0" y="761958"/>
                    <a:pt x="0" y="743595"/>
                  </a:cubicBezTo>
                  <a:lnTo>
                    <a:pt x="0" y="69239"/>
                  </a:lnTo>
                  <a:cubicBezTo>
                    <a:pt x="0" y="50875"/>
                    <a:pt x="7295" y="33264"/>
                    <a:pt x="20279" y="20279"/>
                  </a:cubicBezTo>
                  <a:cubicBezTo>
                    <a:pt x="33264" y="7295"/>
                    <a:pt x="50875" y="0"/>
                    <a:pt x="69239" y="0"/>
                  </a:cubicBezTo>
                  <a:close/>
                </a:path>
              </a:pathLst>
            </a:custGeom>
            <a:blipFill>
              <a:blip r:embed="rId4"/>
              <a:stretch>
                <a:fillRect l="-367" t="0" r="-367" b="0"/>
              </a:stretch>
            </a:blipFill>
          </p:spPr>
        </p:sp>
      </p:grpSp>
      <p:grpSp>
        <p:nvGrpSpPr>
          <p:cNvPr name="Group 8" id="8"/>
          <p:cNvGrpSpPr/>
          <p:nvPr/>
        </p:nvGrpSpPr>
        <p:grpSpPr>
          <a:xfrm rot="0">
            <a:off x="0" y="0"/>
            <a:ext cx="666750" cy="10287000"/>
            <a:chOff x="0" y="0"/>
            <a:chExt cx="175605" cy="2709333"/>
          </a:xfrm>
        </p:grpSpPr>
        <p:sp>
          <p:nvSpPr>
            <p:cNvPr name="Freeform 9" id="9"/>
            <p:cNvSpPr/>
            <p:nvPr/>
          </p:nvSpPr>
          <p:spPr>
            <a:xfrm flipH="false" flipV="false" rot="0">
              <a:off x="0" y="0"/>
              <a:ext cx="175605" cy="2709333"/>
            </a:xfrm>
            <a:custGeom>
              <a:avLst/>
              <a:gdLst/>
              <a:ahLst/>
              <a:cxnLst/>
              <a:rect r="r" b="b" t="t" l="l"/>
              <a:pathLst>
                <a:path h="2709333" w="175605">
                  <a:moveTo>
                    <a:pt x="0" y="0"/>
                  </a:moveTo>
                  <a:lnTo>
                    <a:pt x="175605" y="0"/>
                  </a:lnTo>
                  <a:lnTo>
                    <a:pt x="175605" y="2709333"/>
                  </a:lnTo>
                  <a:lnTo>
                    <a:pt x="0" y="2709333"/>
                  </a:lnTo>
                  <a:close/>
                </a:path>
              </a:pathLst>
            </a:custGeom>
            <a:solidFill>
              <a:srgbClr val="3B2A6C"/>
            </a:solidFill>
          </p:spPr>
        </p:sp>
        <p:sp>
          <p:nvSpPr>
            <p:cNvPr name="TextBox 10" id="10"/>
            <p:cNvSpPr txBox="true"/>
            <p:nvPr/>
          </p:nvSpPr>
          <p:spPr>
            <a:xfrm>
              <a:off x="0" y="-76200"/>
              <a:ext cx="175605" cy="2785533"/>
            </a:xfrm>
            <a:prstGeom prst="rect">
              <a:avLst/>
            </a:prstGeom>
          </p:spPr>
          <p:txBody>
            <a:bodyPr anchor="ctr" rtlCol="false" tIns="50800" lIns="50800" bIns="50800" rIns="50800"/>
            <a:lstStyle/>
            <a:p>
              <a:pPr algn="ctr">
                <a:lnSpc>
                  <a:spcPts val="2800"/>
                </a:lnSpc>
              </a:pPr>
            </a:p>
          </p:txBody>
        </p:sp>
      </p:grpSp>
      <p:sp>
        <p:nvSpPr>
          <p:cNvPr name="AutoShape 11" id="11"/>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12" id="12"/>
          <p:cNvGrpSpPr/>
          <p:nvPr/>
        </p:nvGrpSpPr>
        <p:grpSpPr>
          <a:xfrm rot="0">
            <a:off x="1447014" y="2516755"/>
            <a:ext cx="3222409" cy="283177"/>
            <a:chOff x="0" y="0"/>
            <a:chExt cx="997918" cy="87694"/>
          </a:xfrm>
        </p:grpSpPr>
        <p:sp>
          <p:nvSpPr>
            <p:cNvPr name="Freeform 13" id="13"/>
            <p:cNvSpPr/>
            <p:nvPr/>
          </p:nvSpPr>
          <p:spPr>
            <a:xfrm flipH="false" flipV="false" rot="0">
              <a:off x="0" y="0"/>
              <a:ext cx="997918" cy="87694"/>
            </a:xfrm>
            <a:custGeom>
              <a:avLst/>
              <a:gdLst/>
              <a:ahLst/>
              <a:cxnLst/>
              <a:rect r="r" b="b" t="t" l="l"/>
              <a:pathLst>
                <a:path h="87694" w="997918">
                  <a:moveTo>
                    <a:pt x="997918" y="43847"/>
                  </a:moveTo>
                  <a:lnTo>
                    <a:pt x="997918" y="43847"/>
                  </a:lnTo>
                  <a:cubicBezTo>
                    <a:pt x="997918" y="55476"/>
                    <a:pt x="993299" y="66629"/>
                    <a:pt x="985076" y="74852"/>
                  </a:cubicBezTo>
                  <a:cubicBezTo>
                    <a:pt x="976853" y="83075"/>
                    <a:pt x="965700" y="87694"/>
                    <a:pt x="954071" y="87694"/>
                  </a:cubicBezTo>
                  <a:lnTo>
                    <a:pt x="43847" y="87694"/>
                  </a:lnTo>
                  <a:cubicBezTo>
                    <a:pt x="19631" y="87694"/>
                    <a:pt x="0" y="68063"/>
                    <a:pt x="0" y="43847"/>
                  </a:cubicBezTo>
                  <a:lnTo>
                    <a:pt x="0" y="43847"/>
                  </a:lnTo>
                  <a:cubicBezTo>
                    <a:pt x="0" y="19631"/>
                    <a:pt x="19631" y="0"/>
                    <a:pt x="43847" y="0"/>
                  </a:cubicBezTo>
                  <a:lnTo>
                    <a:pt x="954071" y="0"/>
                  </a:lnTo>
                  <a:cubicBezTo>
                    <a:pt x="978287" y="0"/>
                    <a:pt x="997918" y="19631"/>
                    <a:pt x="997918" y="43847"/>
                  </a:cubicBezTo>
                  <a:close/>
                </a:path>
              </a:pathLst>
            </a:custGeom>
            <a:solidFill>
              <a:srgbClr val="C1C5DE"/>
            </a:solidFill>
          </p:spPr>
        </p:sp>
        <p:sp>
          <p:nvSpPr>
            <p:cNvPr name="TextBox 14" id="14"/>
            <p:cNvSpPr txBox="true"/>
            <p:nvPr/>
          </p:nvSpPr>
          <p:spPr>
            <a:xfrm>
              <a:off x="0" y="-76200"/>
              <a:ext cx="997918" cy="163894"/>
            </a:xfrm>
            <a:prstGeom prst="rect">
              <a:avLst/>
            </a:prstGeom>
          </p:spPr>
          <p:txBody>
            <a:bodyPr anchor="ctr" rtlCol="false" tIns="50800" lIns="50800" bIns="50800" rIns="50800"/>
            <a:lstStyle/>
            <a:p>
              <a:pPr algn="ctr">
                <a:lnSpc>
                  <a:spcPts val="2800"/>
                </a:lnSpc>
              </a:pPr>
            </a:p>
          </p:txBody>
        </p:sp>
      </p:grpSp>
      <p:grpSp>
        <p:nvGrpSpPr>
          <p:cNvPr name="Group 15" id="15"/>
          <p:cNvGrpSpPr/>
          <p:nvPr/>
        </p:nvGrpSpPr>
        <p:grpSpPr>
          <a:xfrm rot="0">
            <a:off x="10734675" y="6934126"/>
            <a:ext cx="6697428" cy="2674620"/>
            <a:chOff x="0" y="0"/>
            <a:chExt cx="8929904" cy="3566160"/>
          </a:xfrm>
        </p:grpSpPr>
        <p:sp>
          <p:nvSpPr>
            <p:cNvPr name="TextBox 16" id="16"/>
            <p:cNvSpPr txBox="true"/>
            <p:nvPr/>
          </p:nvSpPr>
          <p:spPr>
            <a:xfrm rot="0">
              <a:off x="0" y="-19050"/>
              <a:ext cx="8929904" cy="628650"/>
            </a:xfrm>
            <a:prstGeom prst="rect">
              <a:avLst/>
            </a:prstGeom>
          </p:spPr>
          <p:txBody>
            <a:bodyPr anchor="t" rtlCol="false" tIns="0" lIns="0" bIns="0" rIns="0">
              <a:spAutoFit/>
            </a:bodyPr>
            <a:lstStyle/>
            <a:p>
              <a:pPr algn="just" marL="0" indent="0" lvl="0">
                <a:lnSpc>
                  <a:spcPts val="3300"/>
                </a:lnSpc>
              </a:pPr>
              <a:r>
                <a:rPr lang="en-US" b="true" sz="3000" spc="-30">
                  <a:solidFill>
                    <a:srgbClr val="A292D9"/>
                  </a:solidFill>
                  <a:latin typeface="Telegraf Bold"/>
                  <a:ea typeface="Telegraf Bold"/>
                  <a:cs typeface="Telegraf Bold"/>
                  <a:sym typeface="Telegraf Bold"/>
                </a:rPr>
                <a:t>K</a:t>
              </a:r>
              <a:r>
                <a:rPr lang="en-US" b="true" sz="3000" spc="-30">
                  <a:solidFill>
                    <a:srgbClr val="A292D9"/>
                  </a:solidFill>
                  <a:latin typeface="Telegraf Bold"/>
                  <a:ea typeface="Telegraf Bold"/>
                  <a:cs typeface="Telegraf Bold"/>
                  <a:sym typeface="Telegraf Bold"/>
                </a:rPr>
                <a:t>omunikasi, Kolaborasi &amp; </a:t>
              </a:r>
            </a:p>
          </p:txBody>
        </p:sp>
        <p:sp>
          <p:nvSpPr>
            <p:cNvPr name="TextBox 17" id="17"/>
            <p:cNvSpPr txBox="true"/>
            <p:nvPr/>
          </p:nvSpPr>
          <p:spPr>
            <a:xfrm rot="0">
              <a:off x="0" y="738293"/>
              <a:ext cx="8929904" cy="28278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S</a:t>
              </a:r>
              <a:r>
                <a:rPr lang="en-US" sz="2000" spc="-20">
                  <a:solidFill>
                    <a:srgbClr val="C1C5DE"/>
                  </a:solidFill>
                  <a:latin typeface="Telegraf"/>
                  <a:ea typeface="Telegraf"/>
                  <a:cs typeface="Telegraf"/>
                  <a:sym typeface="Telegraf"/>
                </a:rPr>
                <a:t>aya percaya data hanya bernilai jika bisa diterima dan dimengerti. Saya terbiasa bekerja dalam tim, menyampaikan temuan secara efektif, dan mencari solusi berbasis data.</a:t>
              </a:r>
            </a:p>
            <a:p>
              <a:pPr algn="just" marL="0" indent="0" lvl="0">
                <a:lnSpc>
                  <a:spcPts val="2800"/>
                </a:lnSpc>
              </a:pPr>
            </a:p>
            <a:p>
              <a:pPr algn="just" marL="0" indent="0" lvl="0">
                <a:lnSpc>
                  <a:spcPts val="2800"/>
                </a:lnSpc>
              </a:pPr>
            </a:p>
          </p:txBody>
        </p:sp>
      </p:grpSp>
      <p:grpSp>
        <p:nvGrpSpPr>
          <p:cNvPr name="Group 18" id="18"/>
          <p:cNvGrpSpPr/>
          <p:nvPr/>
        </p:nvGrpSpPr>
        <p:grpSpPr>
          <a:xfrm rot="0">
            <a:off x="10734675" y="4248076"/>
            <a:ext cx="6697428" cy="1969789"/>
            <a:chOff x="0" y="0"/>
            <a:chExt cx="8929904" cy="2626385"/>
          </a:xfrm>
        </p:grpSpPr>
        <p:sp>
          <p:nvSpPr>
            <p:cNvPr name="TextBox 19" id="19"/>
            <p:cNvSpPr txBox="true"/>
            <p:nvPr/>
          </p:nvSpPr>
          <p:spPr>
            <a:xfrm rot="0">
              <a:off x="0" y="-19050"/>
              <a:ext cx="8929904" cy="628650"/>
            </a:xfrm>
            <a:prstGeom prst="rect">
              <a:avLst/>
            </a:prstGeom>
          </p:spPr>
          <p:txBody>
            <a:bodyPr anchor="t" rtlCol="false" tIns="0" lIns="0" bIns="0" rIns="0">
              <a:spAutoFit/>
            </a:bodyPr>
            <a:lstStyle/>
            <a:p>
              <a:pPr algn="l" marL="0" indent="0" lvl="0">
                <a:lnSpc>
                  <a:spcPts val="3300"/>
                </a:lnSpc>
              </a:pPr>
              <a:r>
                <a:rPr lang="en-US" b="true" sz="3000" spc="-30">
                  <a:solidFill>
                    <a:srgbClr val="A292D9"/>
                  </a:solidFill>
                  <a:latin typeface="Telegraf Bold"/>
                  <a:ea typeface="Telegraf Bold"/>
                  <a:cs typeface="Telegraf Bold"/>
                  <a:sym typeface="Telegraf Bold"/>
                </a:rPr>
                <a:t>Komunik</a:t>
              </a:r>
              <a:r>
                <a:rPr lang="en-US" b="true" sz="3000" spc="-30">
                  <a:solidFill>
                    <a:srgbClr val="A292D9"/>
                  </a:solidFill>
                  <a:latin typeface="Telegraf Bold"/>
                  <a:ea typeface="Telegraf Bold"/>
                  <a:cs typeface="Telegraf Bold"/>
                  <a:sym typeface="Telegraf Bold"/>
                </a:rPr>
                <a:t>asi</a:t>
              </a:r>
            </a:p>
          </p:txBody>
        </p:sp>
        <p:sp>
          <p:nvSpPr>
            <p:cNvPr name="TextBox 20" id="20"/>
            <p:cNvSpPr txBox="true"/>
            <p:nvPr/>
          </p:nvSpPr>
          <p:spPr>
            <a:xfrm rot="0">
              <a:off x="0" y="738318"/>
              <a:ext cx="8929904" cy="1888067"/>
            </a:xfrm>
            <a:prstGeom prst="rect">
              <a:avLst/>
            </a:prstGeom>
          </p:spPr>
          <p:txBody>
            <a:bodyPr anchor="t" rtlCol="false" tIns="0" lIns="0" bIns="0" rIns="0">
              <a:spAutoFit/>
            </a:bodyPr>
            <a:lstStyle/>
            <a:p>
              <a:pPr algn="just" marL="0" indent="0" lvl="0">
                <a:lnSpc>
                  <a:spcPts val="2800"/>
                </a:lnSpc>
              </a:pPr>
              <a:r>
                <a:rPr lang="en-US" sz="2000" spc="-20">
                  <a:solidFill>
                    <a:srgbClr val="C1C5DE"/>
                  </a:solidFill>
                  <a:latin typeface="Telegraf"/>
                  <a:ea typeface="Telegraf"/>
                  <a:cs typeface="Telegraf"/>
                  <a:sym typeface="Telegraf"/>
                </a:rPr>
                <a:t>Saya percay</a:t>
              </a:r>
              <a:r>
                <a:rPr lang="en-US" sz="2000" spc="-20">
                  <a:solidFill>
                    <a:srgbClr val="C1C5DE"/>
                  </a:solidFill>
                  <a:latin typeface="Telegraf"/>
                  <a:ea typeface="Telegraf"/>
                  <a:cs typeface="Telegraf"/>
                  <a:sym typeface="Telegraf"/>
                </a:rPr>
                <a:t>a data hanya bernilai jika bisa diterima dan dimengerti. Saya terbiasa bekerja dalam tim, menyampaikan temuan secara efektif, dan mencari solusi berbasis data.</a:t>
              </a:r>
            </a:p>
          </p:txBody>
        </p:sp>
      </p:grpSp>
      <p:grpSp>
        <p:nvGrpSpPr>
          <p:cNvPr name="Group 21" id="21"/>
          <p:cNvGrpSpPr/>
          <p:nvPr/>
        </p:nvGrpSpPr>
        <p:grpSpPr>
          <a:xfrm rot="0">
            <a:off x="10734675" y="1497237"/>
            <a:ext cx="6697428" cy="2322214"/>
            <a:chOff x="0" y="0"/>
            <a:chExt cx="8929904" cy="3096285"/>
          </a:xfrm>
        </p:grpSpPr>
        <p:sp>
          <p:nvSpPr>
            <p:cNvPr name="TextBox 22" id="22"/>
            <p:cNvSpPr txBox="true"/>
            <p:nvPr/>
          </p:nvSpPr>
          <p:spPr>
            <a:xfrm rot="0">
              <a:off x="0" y="-19050"/>
              <a:ext cx="8929904" cy="628650"/>
            </a:xfrm>
            <a:prstGeom prst="rect">
              <a:avLst/>
            </a:prstGeom>
          </p:spPr>
          <p:txBody>
            <a:bodyPr anchor="t" rtlCol="false" tIns="0" lIns="0" bIns="0" rIns="0">
              <a:spAutoFit/>
            </a:bodyPr>
            <a:lstStyle/>
            <a:p>
              <a:pPr algn="l" marL="0" indent="0" lvl="0">
                <a:lnSpc>
                  <a:spcPts val="3300"/>
                </a:lnSpc>
              </a:pPr>
              <a:r>
                <a:rPr lang="en-US" b="true" sz="3000" spc="-30">
                  <a:solidFill>
                    <a:srgbClr val="A292D9"/>
                  </a:solidFill>
                  <a:latin typeface="Telegraf Bold"/>
                  <a:ea typeface="Telegraf Bold"/>
                  <a:cs typeface="Telegraf Bold"/>
                  <a:sym typeface="Telegraf Bold"/>
                </a:rPr>
                <a:t>P</a:t>
              </a:r>
              <a:r>
                <a:rPr lang="en-US" b="true" sz="3000" spc="-30">
                  <a:solidFill>
                    <a:srgbClr val="A292D9"/>
                  </a:solidFill>
                  <a:latin typeface="Telegraf Bold"/>
                  <a:ea typeface="Telegraf Bold"/>
                  <a:cs typeface="Telegraf Bold"/>
                  <a:sym typeface="Telegraf Bold"/>
                </a:rPr>
                <a:t>roblem Solving</a:t>
              </a:r>
            </a:p>
          </p:txBody>
        </p:sp>
        <p:sp>
          <p:nvSpPr>
            <p:cNvPr name="TextBox 23" id="23"/>
            <p:cNvSpPr txBox="true"/>
            <p:nvPr/>
          </p:nvSpPr>
          <p:spPr>
            <a:xfrm rot="0">
              <a:off x="0" y="738318"/>
              <a:ext cx="8929904" cy="2357967"/>
            </a:xfrm>
            <a:prstGeom prst="rect">
              <a:avLst/>
            </a:prstGeom>
          </p:spPr>
          <p:txBody>
            <a:bodyPr anchor="t" rtlCol="false" tIns="0" lIns="0" bIns="0" rIns="0">
              <a:spAutoFit/>
            </a:bodyPr>
            <a:lstStyle/>
            <a:p>
              <a:pPr algn="l" marL="0" indent="0" lvl="0">
                <a:lnSpc>
                  <a:spcPts val="2800"/>
                </a:lnSpc>
              </a:pPr>
              <a:r>
                <a:rPr lang="en-US" sz="2000" spc="-20">
                  <a:solidFill>
                    <a:srgbClr val="C1C5DE"/>
                  </a:solidFill>
                  <a:latin typeface="Telegraf"/>
                  <a:ea typeface="Telegraf"/>
                  <a:cs typeface="Telegraf"/>
                  <a:sym typeface="Telegraf"/>
                </a:rPr>
                <a:t>Saya perca</a:t>
              </a:r>
              <a:r>
                <a:rPr lang="en-US" sz="2000" spc="-20">
                  <a:solidFill>
                    <a:srgbClr val="C1C5DE"/>
                  </a:solidFill>
                  <a:latin typeface="Telegraf"/>
                  <a:ea typeface="Telegraf"/>
                  <a:cs typeface="Telegraf"/>
                  <a:sym typeface="Telegraf"/>
                </a:rPr>
                <a:t>ya data hanya bernilai jika bisa diterima dan dimengerti. Saya terbiasa bekerja dalam tim, menyampaikan temuan secara efektif, dan mencari solusi berbasis data.</a:t>
              </a:r>
            </a:p>
            <a:p>
              <a:pPr algn="l" marL="0" indent="0" lvl="0">
                <a:lnSpc>
                  <a:spcPts val="2800"/>
                </a:lnSpc>
              </a:pPr>
            </a:p>
          </p:txBody>
        </p:sp>
      </p:grpSp>
      <p:sp>
        <p:nvSpPr>
          <p:cNvPr name="TextBox 24" id="24"/>
          <p:cNvSpPr txBox="true"/>
          <p:nvPr/>
        </p:nvSpPr>
        <p:spPr>
          <a:xfrm rot="0">
            <a:off x="1226135" y="1487712"/>
            <a:ext cx="6886575" cy="799338"/>
          </a:xfrm>
          <a:prstGeom prst="rect">
            <a:avLst/>
          </a:prstGeom>
        </p:spPr>
        <p:txBody>
          <a:bodyPr anchor="t" rtlCol="false" tIns="0" lIns="0" bIns="0" rIns="0">
            <a:spAutoFit/>
          </a:bodyPr>
          <a:lstStyle/>
          <a:p>
            <a:pPr algn="l" marL="0" indent="0" lvl="0">
              <a:lnSpc>
                <a:spcPts val="5709"/>
              </a:lnSpc>
            </a:pPr>
            <a:r>
              <a:rPr lang="en-US" b="true" sz="5190" spc="-51">
                <a:solidFill>
                  <a:srgbClr val="9FA8DA"/>
                </a:solidFill>
                <a:latin typeface="Telegraf Bold"/>
                <a:ea typeface="Telegraf Bold"/>
                <a:cs typeface="Telegraf Bold"/>
                <a:sym typeface="Telegraf Bold"/>
              </a:rPr>
              <a:t>Soft Skill</a:t>
            </a:r>
          </a:p>
        </p:txBody>
      </p:sp>
      <p:sp>
        <p:nvSpPr>
          <p:cNvPr name="TextBox 25" id="25"/>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HARD </a:t>
            </a:r>
            <a:r>
              <a:rPr lang="en-US" b="true" sz="1200" spc="-12">
                <a:solidFill>
                  <a:srgbClr val="C1C5DE"/>
                </a:solidFill>
                <a:latin typeface="Telegraf Bold"/>
                <a:ea typeface="Telegraf Bold"/>
                <a:cs typeface="Telegraf Bold"/>
                <a:sym typeface="Telegraf Bold"/>
              </a:rPr>
              <a:t>SKILL + SOFT SKILL</a:t>
            </a:r>
          </a:p>
        </p:txBody>
      </p:sp>
      <p:sp>
        <p:nvSpPr>
          <p:cNvPr name="TextBox 26" id="26"/>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3B2A6C"/>
            </a:solidFill>
          </p:spPr>
        </p:sp>
        <p:sp>
          <p:nvSpPr>
            <p:cNvPr name="TextBox 4" id="4"/>
            <p:cNvSpPr txBox="true"/>
            <p:nvPr/>
          </p:nvSpPr>
          <p:spPr>
            <a:xfrm>
              <a:off x="0" y="-76200"/>
              <a:ext cx="2408296" cy="278553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2867792" y="4603750"/>
            <a:ext cx="12552417" cy="1069975"/>
          </a:xfrm>
          <a:prstGeom prst="rect">
            <a:avLst/>
          </a:prstGeom>
        </p:spPr>
        <p:txBody>
          <a:bodyPr anchor="t" rtlCol="false" tIns="0" lIns="0" bIns="0" rIns="0">
            <a:spAutoFit/>
          </a:bodyPr>
          <a:lstStyle/>
          <a:p>
            <a:pPr algn="ctr" marL="0" indent="0" lvl="0">
              <a:lnSpc>
                <a:spcPts val="7699"/>
              </a:lnSpc>
            </a:pPr>
            <a:r>
              <a:rPr lang="en-US" b="true" sz="6999" spc="-69">
                <a:solidFill>
                  <a:srgbClr val="9FA8DA"/>
                </a:solidFill>
                <a:latin typeface="Telegraf Bold"/>
                <a:ea typeface="Telegraf Bold"/>
                <a:cs typeface="Telegraf Bold"/>
                <a:sym typeface="Telegraf Bold"/>
              </a:rPr>
              <a:t>Proyek Yang Sudah Dibuat !!!</a:t>
            </a:r>
          </a:p>
        </p:txBody>
      </p:sp>
      <p:sp>
        <p:nvSpPr>
          <p:cNvPr name="AutoShape 6" id="6"/>
          <p:cNvSpPr/>
          <p:nvPr/>
        </p:nvSpPr>
        <p:spPr>
          <a:xfrm>
            <a:off x="666750" y="9620250"/>
            <a:ext cx="16954500" cy="0"/>
          </a:xfrm>
          <a:prstGeom prst="line">
            <a:avLst/>
          </a:prstGeom>
          <a:ln cap="flat" w="9525">
            <a:solidFill>
              <a:srgbClr val="9FA8DA"/>
            </a:solidFill>
            <a:prstDash val="solid"/>
            <a:headEnd type="none" len="sm" w="sm"/>
            <a:tailEnd type="none" len="sm" w="sm"/>
          </a:ln>
        </p:spPr>
      </p:sp>
      <p:sp>
        <p:nvSpPr>
          <p:cNvPr name="TextBox 7" id="7"/>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8" id="8"/>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47700" y="2098548"/>
            <a:ext cx="7550619" cy="5237023"/>
            <a:chOff x="0" y="0"/>
            <a:chExt cx="10067492" cy="6982697"/>
          </a:xfrm>
        </p:grpSpPr>
        <p:sp>
          <p:nvSpPr>
            <p:cNvPr name="TextBox 6" id="6"/>
            <p:cNvSpPr txBox="true"/>
            <p:nvPr/>
          </p:nvSpPr>
          <p:spPr>
            <a:xfrm rot="0">
              <a:off x="0" y="2932032"/>
              <a:ext cx="10067492" cy="4050665"/>
            </a:xfrm>
            <a:prstGeom prst="rect">
              <a:avLst/>
            </a:prstGeom>
          </p:spPr>
          <p:txBody>
            <a:bodyPr anchor="t" rtlCol="false" tIns="0" lIns="0" bIns="0" rIns="0">
              <a:spAutoFit/>
            </a:bodyPr>
            <a:lstStyle/>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Me</a:t>
              </a:r>
              <a:r>
                <a:rPr lang="en-US" sz="2400" spc="-24">
                  <a:solidFill>
                    <a:srgbClr val="C1C5DE"/>
                  </a:solidFill>
                  <a:latin typeface="Telegraf"/>
                  <a:ea typeface="Telegraf"/>
                  <a:cs typeface="Telegraf"/>
                  <a:sym typeface="Telegraf"/>
                </a:rPr>
                <a:t>ngolah dataset mentah dari log klik iklan &amp; data pengguna.</a:t>
              </a:r>
            </a:p>
            <a:p>
              <a:pPr algn="just">
                <a:lnSpc>
                  <a:spcPts val="2640"/>
                </a:lnSpc>
              </a:pPr>
            </a:p>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Identifikasi wilayah &amp; demografi dengan menggunakan pivot tabel.</a:t>
              </a:r>
            </a:p>
            <a:p>
              <a:pPr algn="just">
                <a:lnSpc>
                  <a:spcPts val="2640"/>
                </a:lnSpc>
              </a:pPr>
            </a:p>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Menganalisis Pola Demografi &amp; Geografis Pengguna.</a:t>
              </a:r>
            </a:p>
            <a:p>
              <a:pPr algn="just">
                <a:lnSpc>
                  <a:spcPts val="2640"/>
                </a:lnSpc>
              </a:pPr>
            </a:p>
          </p:txBody>
        </p:sp>
        <p:sp>
          <p:nvSpPr>
            <p:cNvPr name="TextBox 7" id="7"/>
            <p:cNvSpPr txBox="true"/>
            <p:nvPr/>
          </p:nvSpPr>
          <p:spPr>
            <a:xfrm rot="0">
              <a:off x="268417" y="-9525"/>
              <a:ext cx="8993824" cy="2027809"/>
            </a:xfrm>
            <a:prstGeom prst="rect">
              <a:avLst/>
            </a:prstGeom>
          </p:spPr>
          <p:txBody>
            <a:bodyPr anchor="t" rtlCol="false" tIns="0" lIns="0" bIns="0" rIns="0">
              <a:spAutoFit/>
            </a:bodyPr>
            <a:lstStyle/>
            <a:p>
              <a:pPr algn="just" marL="0" indent="0" lvl="0">
                <a:lnSpc>
                  <a:spcPts val="5709"/>
                </a:lnSpc>
              </a:pPr>
              <a:r>
                <a:rPr lang="en-US" b="true" sz="5190" spc="-51">
                  <a:solidFill>
                    <a:srgbClr val="9FA8DA"/>
                  </a:solidFill>
                  <a:latin typeface="Telegraf Bold"/>
                  <a:ea typeface="Telegraf Bold"/>
                  <a:cs typeface="Telegraf Bold"/>
                  <a:sym typeface="Telegraf Bold"/>
                </a:rPr>
                <a:t>Project Iklan Web Analytics Dashboard</a:t>
              </a:r>
            </a:p>
          </p:txBody>
        </p:sp>
      </p:grpSp>
      <p:sp>
        <p:nvSpPr>
          <p:cNvPr name="TextBox 8" id="8"/>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grpSp>
        <p:nvGrpSpPr>
          <p:cNvPr name="Group 9" id="9"/>
          <p:cNvGrpSpPr/>
          <p:nvPr/>
        </p:nvGrpSpPr>
        <p:grpSpPr>
          <a:xfrm rot="0">
            <a:off x="15025688" y="0"/>
            <a:ext cx="3238500" cy="10287000"/>
            <a:chOff x="0" y="0"/>
            <a:chExt cx="852938" cy="2709333"/>
          </a:xfrm>
        </p:grpSpPr>
        <p:sp>
          <p:nvSpPr>
            <p:cNvPr name="Freeform 10" id="10"/>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11" id="11"/>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12" id="12"/>
          <p:cNvSpPr/>
          <p:nvPr/>
        </p:nvSpPr>
        <p:spPr>
          <a:xfrm>
            <a:off x="666750" y="9620250"/>
            <a:ext cx="16954500" cy="0"/>
          </a:xfrm>
          <a:prstGeom prst="line">
            <a:avLst/>
          </a:prstGeom>
          <a:ln cap="flat" w="9525">
            <a:solidFill>
              <a:srgbClr val="9FA8DA"/>
            </a:solidFill>
            <a:prstDash val="solid"/>
            <a:headEnd type="none" len="sm" w="sm"/>
            <a:tailEnd type="none" len="sm" w="sm"/>
          </a:ln>
        </p:spPr>
      </p:sp>
      <p:sp>
        <p:nvSpPr>
          <p:cNvPr name="TextBox 13" id="13"/>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7</a:t>
            </a:r>
          </a:p>
        </p:txBody>
      </p:sp>
      <p:grpSp>
        <p:nvGrpSpPr>
          <p:cNvPr name="Group 14" id="14"/>
          <p:cNvGrpSpPr/>
          <p:nvPr/>
        </p:nvGrpSpPr>
        <p:grpSpPr>
          <a:xfrm rot="0">
            <a:off x="10659180" y="5636461"/>
            <a:ext cx="5321646" cy="3380263"/>
            <a:chOff x="0" y="0"/>
            <a:chExt cx="643859" cy="408974"/>
          </a:xfrm>
        </p:grpSpPr>
        <p:sp>
          <p:nvSpPr>
            <p:cNvPr name="Freeform 15" id="15"/>
            <p:cNvSpPr/>
            <p:nvPr/>
          </p:nvSpPr>
          <p:spPr>
            <a:xfrm flipH="false" flipV="false" rot="0">
              <a:off x="0" y="0"/>
              <a:ext cx="643859" cy="408974"/>
            </a:xfrm>
            <a:custGeom>
              <a:avLst/>
              <a:gdLst/>
              <a:ahLst/>
              <a:cxnLst/>
              <a:rect r="r" b="b" t="t" l="l"/>
              <a:pathLst>
                <a:path h="408974" w="643859">
                  <a:moveTo>
                    <a:pt x="50918" y="0"/>
                  </a:moveTo>
                  <a:lnTo>
                    <a:pt x="592941" y="0"/>
                  </a:lnTo>
                  <a:cubicBezTo>
                    <a:pt x="621063" y="0"/>
                    <a:pt x="643859" y="22797"/>
                    <a:pt x="643859" y="50918"/>
                  </a:cubicBezTo>
                  <a:lnTo>
                    <a:pt x="643859" y="358056"/>
                  </a:lnTo>
                  <a:cubicBezTo>
                    <a:pt x="643859" y="371560"/>
                    <a:pt x="638495" y="384511"/>
                    <a:pt x="628946" y="394060"/>
                  </a:cubicBezTo>
                  <a:cubicBezTo>
                    <a:pt x="619397" y="403609"/>
                    <a:pt x="606446" y="408974"/>
                    <a:pt x="592941" y="408974"/>
                  </a:cubicBezTo>
                  <a:lnTo>
                    <a:pt x="50918" y="408974"/>
                  </a:lnTo>
                  <a:cubicBezTo>
                    <a:pt x="37414" y="408974"/>
                    <a:pt x="24462" y="403609"/>
                    <a:pt x="14914" y="394060"/>
                  </a:cubicBezTo>
                  <a:cubicBezTo>
                    <a:pt x="5365" y="384511"/>
                    <a:pt x="0" y="371560"/>
                    <a:pt x="0" y="358056"/>
                  </a:cubicBezTo>
                  <a:lnTo>
                    <a:pt x="0" y="50918"/>
                  </a:lnTo>
                  <a:cubicBezTo>
                    <a:pt x="0" y="37414"/>
                    <a:pt x="5365" y="24462"/>
                    <a:pt x="14914" y="14914"/>
                  </a:cubicBezTo>
                  <a:cubicBezTo>
                    <a:pt x="24462" y="5365"/>
                    <a:pt x="37414" y="0"/>
                    <a:pt x="50918" y="0"/>
                  </a:cubicBezTo>
                  <a:close/>
                </a:path>
              </a:pathLst>
            </a:custGeom>
            <a:blipFill>
              <a:blip r:embed="rId2"/>
              <a:stretch>
                <a:fillRect l="0" t="0" r="0" b="-3905"/>
              </a:stretch>
            </a:blipFill>
          </p:spPr>
        </p:sp>
      </p:grpSp>
      <p:grpSp>
        <p:nvGrpSpPr>
          <p:cNvPr name="Group 16" id="16"/>
          <p:cNvGrpSpPr/>
          <p:nvPr/>
        </p:nvGrpSpPr>
        <p:grpSpPr>
          <a:xfrm rot="0">
            <a:off x="10659180" y="1856972"/>
            <a:ext cx="5321646" cy="3380263"/>
            <a:chOff x="0" y="0"/>
            <a:chExt cx="643859" cy="408974"/>
          </a:xfrm>
        </p:grpSpPr>
        <p:sp>
          <p:nvSpPr>
            <p:cNvPr name="Freeform 17" id="17"/>
            <p:cNvSpPr/>
            <p:nvPr/>
          </p:nvSpPr>
          <p:spPr>
            <a:xfrm flipH="false" flipV="false" rot="0">
              <a:off x="0" y="0"/>
              <a:ext cx="643859" cy="408974"/>
            </a:xfrm>
            <a:custGeom>
              <a:avLst/>
              <a:gdLst/>
              <a:ahLst/>
              <a:cxnLst/>
              <a:rect r="r" b="b" t="t" l="l"/>
              <a:pathLst>
                <a:path h="408974" w="643859">
                  <a:moveTo>
                    <a:pt x="50918" y="0"/>
                  </a:moveTo>
                  <a:lnTo>
                    <a:pt x="592941" y="0"/>
                  </a:lnTo>
                  <a:cubicBezTo>
                    <a:pt x="621063" y="0"/>
                    <a:pt x="643859" y="22797"/>
                    <a:pt x="643859" y="50918"/>
                  </a:cubicBezTo>
                  <a:lnTo>
                    <a:pt x="643859" y="358056"/>
                  </a:lnTo>
                  <a:cubicBezTo>
                    <a:pt x="643859" y="371560"/>
                    <a:pt x="638495" y="384511"/>
                    <a:pt x="628946" y="394060"/>
                  </a:cubicBezTo>
                  <a:cubicBezTo>
                    <a:pt x="619397" y="403609"/>
                    <a:pt x="606446" y="408974"/>
                    <a:pt x="592941" y="408974"/>
                  </a:cubicBezTo>
                  <a:lnTo>
                    <a:pt x="50918" y="408974"/>
                  </a:lnTo>
                  <a:cubicBezTo>
                    <a:pt x="37414" y="408974"/>
                    <a:pt x="24462" y="403609"/>
                    <a:pt x="14914" y="394060"/>
                  </a:cubicBezTo>
                  <a:cubicBezTo>
                    <a:pt x="5365" y="384511"/>
                    <a:pt x="0" y="371560"/>
                    <a:pt x="0" y="358056"/>
                  </a:cubicBezTo>
                  <a:lnTo>
                    <a:pt x="0" y="50918"/>
                  </a:lnTo>
                  <a:cubicBezTo>
                    <a:pt x="0" y="37414"/>
                    <a:pt x="5365" y="24462"/>
                    <a:pt x="14914" y="14914"/>
                  </a:cubicBezTo>
                  <a:cubicBezTo>
                    <a:pt x="24462" y="5365"/>
                    <a:pt x="37414" y="0"/>
                    <a:pt x="50918" y="0"/>
                  </a:cubicBezTo>
                  <a:close/>
                </a:path>
              </a:pathLst>
            </a:custGeom>
            <a:blipFill>
              <a:blip r:embed="rId3"/>
              <a:stretch>
                <a:fillRect l="0" t="0" r="-26406" b="0"/>
              </a:stretch>
            </a:blipFill>
          </p:spPr>
        </p:sp>
      </p:grpSp>
      <p:sp>
        <p:nvSpPr>
          <p:cNvPr name="TextBox 18" id="18"/>
          <p:cNvSpPr txBox="true"/>
          <p:nvPr/>
        </p:nvSpPr>
        <p:spPr>
          <a:xfrm rot="0">
            <a:off x="1035665" y="7795259"/>
            <a:ext cx="1666161"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4" tooltip="https://docs.google.com/spreadsheets/d/1T4a1v8huWI44NVILBHAg3N9KK7xWe9Ep/edit?usp=sharing&amp;ouid=101548568454846273812&amp;rtpof=true&amp;sd=true"/>
              </a:rPr>
              <a:t>Klik File XLSX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5025688"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8" id="8"/>
          <p:cNvSpPr/>
          <p:nvPr/>
        </p:nvSpPr>
        <p:spPr>
          <a:xfrm>
            <a:off x="666750" y="9620250"/>
            <a:ext cx="16954500" cy="0"/>
          </a:xfrm>
          <a:prstGeom prst="line">
            <a:avLst/>
          </a:prstGeom>
          <a:ln cap="flat" w="9525">
            <a:solidFill>
              <a:srgbClr val="9FA8DA"/>
            </a:solidFill>
            <a:prstDash val="solid"/>
            <a:headEnd type="none" len="sm" w="sm"/>
            <a:tailEnd type="none" len="sm" w="sm"/>
          </a:ln>
        </p:spPr>
      </p:sp>
      <p:sp>
        <p:nvSpPr>
          <p:cNvPr name="TextBox 9" id="9"/>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10" id="10"/>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8</a:t>
            </a:r>
          </a:p>
        </p:txBody>
      </p:sp>
      <p:grpSp>
        <p:nvGrpSpPr>
          <p:cNvPr name="Group 11" id="11"/>
          <p:cNvGrpSpPr/>
          <p:nvPr/>
        </p:nvGrpSpPr>
        <p:grpSpPr>
          <a:xfrm rot="0">
            <a:off x="666750" y="2098548"/>
            <a:ext cx="6866156" cy="4903648"/>
            <a:chOff x="0" y="0"/>
            <a:chExt cx="9154875" cy="6538197"/>
          </a:xfrm>
        </p:grpSpPr>
        <p:sp>
          <p:nvSpPr>
            <p:cNvPr name="TextBox 12" id="12"/>
            <p:cNvSpPr txBox="true"/>
            <p:nvPr/>
          </p:nvSpPr>
          <p:spPr>
            <a:xfrm rot="0">
              <a:off x="0" y="2932032"/>
              <a:ext cx="8917128" cy="3606165"/>
            </a:xfrm>
            <a:prstGeom prst="rect">
              <a:avLst/>
            </a:prstGeom>
          </p:spPr>
          <p:txBody>
            <a:bodyPr anchor="t" rtlCol="false" tIns="0" lIns="0" bIns="0" rIns="0">
              <a:spAutoFit/>
            </a:bodyPr>
            <a:lstStyle/>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D</a:t>
              </a:r>
              <a:r>
                <a:rPr lang="en-US" sz="2400" spc="-24">
                  <a:solidFill>
                    <a:srgbClr val="C1C5DE"/>
                  </a:solidFill>
                  <a:latin typeface="Telegraf"/>
                  <a:ea typeface="Telegraf"/>
                  <a:cs typeface="Telegraf"/>
                  <a:sym typeface="Telegraf"/>
                </a:rPr>
                <a:t>ashboard interaktif dengan filter dinamis</a:t>
              </a:r>
            </a:p>
            <a:p>
              <a:pPr algn="just">
                <a:lnSpc>
                  <a:spcPts val="2640"/>
                </a:lnSpc>
              </a:pPr>
            </a:p>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Membuat visualisasi interaktif untuk mengi</a:t>
              </a:r>
              <a:r>
                <a:rPr lang="en-US" sz="2400" spc="-24">
                  <a:solidFill>
                    <a:srgbClr val="C1C5DE"/>
                  </a:solidFill>
                  <a:latin typeface="Telegraf"/>
                  <a:ea typeface="Telegraf"/>
                  <a:cs typeface="Telegraf"/>
                  <a:sym typeface="Telegraf"/>
                </a:rPr>
                <a:t>dentifikasi tren &amp; segmentasi audiens.</a:t>
              </a:r>
            </a:p>
            <a:p>
              <a:pPr algn="just">
                <a:lnSpc>
                  <a:spcPts val="2640"/>
                </a:lnSpc>
              </a:pPr>
            </a:p>
            <a:p>
              <a:pPr algn="just" marL="518160" indent="-259080" lvl="1">
                <a:lnSpc>
                  <a:spcPts val="2640"/>
                </a:lnSpc>
                <a:buFont typeface="Arial"/>
                <a:buChar char="•"/>
              </a:pPr>
              <a:r>
                <a:rPr lang="en-US" sz="2400" spc="-24">
                  <a:solidFill>
                    <a:srgbClr val="C1C5DE"/>
                  </a:solidFill>
                  <a:latin typeface="Telegraf"/>
                  <a:ea typeface="Telegraf"/>
                  <a:cs typeface="Telegraf"/>
                  <a:sym typeface="Telegraf"/>
                </a:rPr>
                <a:t>Menyajikan insight berb</a:t>
              </a:r>
              <a:r>
                <a:rPr lang="en-US" sz="2400" spc="-24">
                  <a:solidFill>
                    <a:srgbClr val="C1C5DE"/>
                  </a:solidFill>
                  <a:latin typeface="Telegraf"/>
                  <a:ea typeface="Telegraf"/>
                  <a:cs typeface="Telegraf"/>
                  <a:sym typeface="Telegraf"/>
                </a:rPr>
                <a:t>asis wilayah, usia, jenis kelamin, dan pendapatan</a:t>
              </a:r>
            </a:p>
            <a:p>
              <a:pPr algn="just">
                <a:lnSpc>
                  <a:spcPts val="2640"/>
                </a:lnSpc>
              </a:pPr>
            </a:p>
          </p:txBody>
        </p:sp>
        <p:sp>
          <p:nvSpPr>
            <p:cNvPr name="TextBox 13" id="13"/>
            <p:cNvSpPr txBox="true"/>
            <p:nvPr/>
          </p:nvSpPr>
          <p:spPr>
            <a:xfrm rot="0">
              <a:off x="237746" y="-9525"/>
              <a:ext cx="8917128" cy="2027809"/>
            </a:xfrm>
            <a:prstGeom prst="rect">
              <a:avLst/>
            </a:prstGeom>
          </p:spPr>
          <p:txBody>
            <a:bodyPr anchor="t" rtlCol="false" tIns="0" lIns="0" bIns="0" rIns="0">
              <a:spAutoFit/>
            </a:bodyPr>
            <a:lstStyle/>
            <a:p>
              <a:pPr algn="just" marL="0" indent="0" lvl="0">
                <a:lnSpc>
                  <a:spcPts val="5709"/>
                </a:lnSpc>
              </a:pPr>
              <a:r>
                <a:rPr lang="en-US" b="true" sz="5190" spc="-51">
                  <a:solidFill>
                    <a:srgbClr val="9FA8DA"/>
                  </a:solidFill>
                  <a:latin typeface="Telegraf Bold"/>
                  <a:ea typeface="Telegraf Bold"/>
                  <a:cs typeface="Telegraf Bold"/>
                  <a:sym typeface="Telegraf Bold"/>
                </a:rPr>
                <a:t>Project Iklan Web Analytics Dashboard</a:t>
              </a:r>
            </a:p>
          </p:txBody>
        </p:sp>
      </p:grpSp>
      <p:grpSp>
        <p:nvGrpSpPr>
          <p:cNvPr name="Group 14" id="14"/>
          <p:cNvGrpSpPr/>
          <p:nvPr/>
        </p:nvGrpSpPr>
        <p:grpSpPr>
          <a:xfrm rot="0">
            <a:off x="8976714" y="2098548"/>
            <a:ext cx="8705629" cy="5529740"/>
            <a:chOff x="0" y="0"/>
            <a:chExt cx="643859" cy="408974"/>
          </a:xfrm>
        </p:grpSpPr>
        <p:sp>
          <p:nvSpPr>
            <p:cNvPr name="Freeform 15" id="15"/>
            <p:cNvSpPr/>
            <p:nvPr/>
          </p:nvSpPr>
          <p:spPr>
            <a:xfrm flipH="false" flipV="false" rot="0">
              <a:off x="0" y="0"/>
              <a:ext cx="643859" cy="408974"/>
            </a:xfrm>
            <a:custGeom>
              <a:avLst/>
              <a:gdLst/>
              <a:ahLst/>
              <a:cxnLst/>
              <a:rect r="r" b="b" t="t" l="l"/>
              <a:pathLst>
                <a:path h="408974" w="643859">
                  <a:moveTo>
                    <a:pt x="31126" y="0"/>
                  </a:moveTo>
                  <a:lnTo>
                    <a:pt x="612734" y="0"/>
                  </a:lnTo>
                  <a:cubicBezTo>
                    <a:pt x="629924" y="0"/>
                    <a:pt x="643859" y="13935"/>
                    <a:pt x="643859" y="31126"/>
                  </a:cubicBezTo>
                  <a:lnTo>
                    <a:pt x="643859" y="377848"/>
                  </a:lnTo>
                  <a:cubicBezTo>
                    <a:pt x="643859" y="395038"/>
                    <a:pt x="629924" y="408974"/>
                    <a:pt x="612734" y="408974"/>
                  </a:cubicBezTo>
                  <a:lnTo>
                    <a:pt x="31126" y="408974"/>
                  </a:lnTo>
                  <a:cubicBezTo>
                    <a:pt x="13935" y="408974"/>
                    <a:pt x="0" y="395038"/>
                    <a:pt x="0" y="377848"/>
                  </a:cubicBezTo>
                  <a:lnTo>
                    <a:pt x="0" y="31126"/>
                  </a:lnTo>
                  <a:cubicBezTo>
                    <a:pt x="0" y="13935"/>
                    <a:pt x="13935" y="0"/>
                    <a:pt x="31126" y="0"/>
                  </a:cubicBezTo>
                  <a:close/>
                </a:path>
              </a:pathLst>
            </a:custGeom>
            <a:blipFill>
              <a:blip r:embed="rId2"/>
              <a:stretch>
                <a:fillRect l="0" t="0" r="0" b="-18468"/>
              </a:stretch>
            </a:blipFill>
          </p:spPr>
        </p:sp>
      </p:grpSp>
      <p:sp>
        <p:nvSpPr>
          <p:cNvPr name="TextBox 16" id="16"/>
          <p:cNvSpPr txBox="true"/>
          <p:nvPr/>
        </p:nvSpPr>
        <p:spPr>
          <a:xfrm rot="0">
            <a:off x="1114008" y="7795259"/>
            <a:ext cx="1509474"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3" tooltip="https://drive.google.com/file/d/1gma8sjux1rBOC9u2os41R4sp9z4hZbXW/view?usp=sharing"/>
              </a:rPr>
              <a:t>Klik </a:t>
            </a:r>
            <a:r>
              <a:rPr lang="en-US" b="true" sz="2000" spc="-20" u="sng">
                <a:solidFill>
                  <a:srgbClr val="A292D9"/>
                </a:solidFill>
                <a:latin typeface="Telegraf Bold"/>
                <a:ea typeface="Telegraf Bold"/>
                <a:cs typeface="Telegraf Bold"/>
                <a:sym typeface="Telegraf Bold"/>
                <a:hlinkClick r:id="rId4" tooltip="https://drive.google.com/file/d/1gma8sjux1rBOC9u2os41R4sp9z4hZbXW/view?usp=sharing"/>
              </a:rPr>
              <a:t>Gambar</a:t>
            </a:r>
          </a:p>
        </p:txBody>
      </p:sp>
      <p:sp>
        <p:nvSpPr>
          <p:cNvPr name="TextBox 17" id="17"/>
          <p:cNvSpPr txBox="true"/>
          <p:nvPr/>
        </p:nvSpPr>
        <p:spPr>
          <a:xfrm rot="0">
            <a:off x="3183597" y="7795259"/>
            <a:ext cx="2305288"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5" tooltip="https://lookerstudio.google.com/reporting/7bc160cf-1e2a-4a5e-8c91-6881ceb35c06"/>
              </a:rPr>
              <a:t>Klik </a:t>
            </a:r>
            <a:r>
              <a:rPr lang="en-US" b="true" sz="2000" spc="-20" u="sng">
                <a:solidFill>
                  <a:srgbClr val="A292D9"/>
                </a:solidFill>
                <a:latin typeface="Telegraf Bold"/>
                <a:ea typeface="Telegraf Bold"/>
                <a:cs typeface="Telegraf Bold"/>
                <a:sym typeface="Telegraf Bold"/>
                <a:hlinkClick r:id="rId6" tooltip="https://lookerstudio.google.com/reporting/7bc160cf-1e2a-4a5e-8c91-6881ceb35c06"/>
              </a:rPr>
              <a:t> Looker Studio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grpSp>
        <p:nvGrpSpPr>
          <p:cNvPr name="Group 6" id="6"/>
          <p:cNvGrpSpPr/>
          <p:nvPr/>
        </p:nvGrpSpPr>
        <p:grpSpPr>
          <a:xfrm rot="0">
            <a:off x="15025688" y="0"/>
            <a:ext cx="3238500" cy="10287000"/>
            <a:chOff x="0" y="0"/>
            <a:chExt cx="852938" cy="2709333"/>
          </a:xfrm>
        </p:grpSpPr>
        <p:sp>
          <p:nvSpPr>
            <p:cNvPr name="Freeform 7" id="7"/>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8" id="8"/>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9</a:t>
            </a:r>
          </a:p>
        </p:txBody>
      </p:sp>
      <p:grpSp>
        <p:nvGrpSpPr>
          <p:cNvPr name="Group 10" id="10"/>
          <p:cNvGrpSpPr/>
          <p:nvPr/>
        </p:nvGrpSpPr>
        <p:grpSpPr>
          <a:xfrm rot="0">
            <a:off x="666750" y="1310538"/>
            <a:ext cx="7686626" cy="6227630"/>
            <a:chOff x="0" y="0"/>
            <a:chExt cx="10248834" cy="8303506"/>
          </a:xfrm>
        </p:grpSpPr>
        <p:sp>
          <p:nvSpPr>
            <p:cNvPr name="TextBox 11" id="11"/>
            <p:cNvSpPr txBox="true"/>
            <p:nvPr/>
          </p:nvSpPr>
          <p:spPr>
            <a:xfrm rot="0">
              <a:off x="0" y="4252891"/>
              <a:ext cx="8715236" cy="4050615"/>
            </a:xfrm>
            <a:prstGeom prst="rect">
              <a:avLst/>
            </a:prstGeom>
          </p:spPr>
          <p:txBody>
            <a:bodyPr anchor="t" rtlCol="false" tIns="0" lIns="0" bIns="0" rIns="0">
              <a:spAutoFit/>
            </a:bodyPr>
            <a:lstStyle/>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a:t>
              </a:r>
              <a:r>
                <a:rPr lang="en-US" sz="2397" spc="-23">
                  <a:solidFill>
                    <a:srgbClr val="C1C5DE"/>
                  </a:solidFill>
                  <a:latin typeface="Telegraf"/>
                  <a:ea typeface="Telegraf"/>
                  <a:cs typeface="Telegraf"/>
                  <a:sym typeface="Telegraf"/>
                </a:rPr>
                <a:t>ngolah Dataset World Bank Global dari Sumber Publik.</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Membuat Struktur Data Berdasarkan Income Group dan Region.</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Menganalisis Pola Demografi &amp; Geografis Pengguna.</a:t>
              </a:r>
            </a:p>
            <a:p>
              <a:pPr algn="just">
                <a:lnSpc>
                  <a:spcPts val="2636"/>
                </a:lnSpc>
              </a:pPr>
            </a:p>
          </p:txBody>
        </p:sp>
        <p:sp>
          <p:nvSpPr>
            <p:cNvPr name="TextBox 12" id="12"/>
            <p:cNvSpPr txBox="true"/>
            <p:nvPr/>
          </p:nvSpPr>
          <p:spPr>
            <a:xfrm rot="0">
              <a:off x="232363" y="-9525"/>
              <a:ext cx="10016471" cy="3967418"/>
            </a:xfrm>
            <a:prstGeom prst="rect">
              <a:avLst/>
            </a:prstGeom>
          </p:spPr>
          <p:txBody>
            <a:bodyPr anchor="t" rtlCol="false" tIns="0" lIns="0" bIns="0" rIns="0">
              <a:spAutoFit/>
            </a:bodyPr>
            <a:lstStyle/>
            <a:p>
              <a:pPr algn="l" marL="0" indent="0" lvl="0">
                <a:lnSpc>
                  <a:spcPts val="5713"/>
                </a:lnSpc>
              </a:pPr>
              <a:r>
                <a:rPr lang="en-US" b="true" sz="5194" spc="-51">
                  <a:solidFill>
                    <a:srgbClr val="9FA8DA"/>
                  </a:solidFill>
                  <a:latin typeface="Telegraf Bold"/>
                  <a:ea typeface="Telegraf Bold"/>
                  <a:cs typeface="Telegraf Bold"/>
                  <a:sym typeface="Telegraf Bold"/>
                </a:rPr>
                <a:t>Analisis </a:t>
              </a:r>
              <a:r>
                <a:rPr lang="en-US" b="true" sz="5194" spc="-51">
                  <a:solidFill>
                    <a:srgbClr val="9FA8DA"/>
                  </a:solidFill>
                  <a:latin typeface="Telegraf Bold"/>
                  <a:ea typeface="Telegraf Bold"/>
                  <a:cs typeface="Telegraf Bold"/>
                  <a:sym typeface="Telegraf Bold"/>
                </a:rPr>
                <a:t>Populasi Dunia dan Kelompok Pendapatan (2014–2023)</a:t>
              </a:r>
            </a:p>
          </p:txBody>
        </p:sp>
      </p:grpSp>
      <p:sp>
        <p:nvSpPr>
          <p:cNvPr name="AutoShape 13" id="13"/>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14" id="14"/>
          <p:cNvGrpSpPr/>
          <p:nvPr/>
        </p:nvGrpSpPr>
        <p:grpSpPr>
          <a:xfrm rot="0">
            <a:off x="9003081" y="2908348"/>
            <a:ext cx="8115300" cy="4550830"/>
            <a:chOff x="0" y="0"/>
            <a:chExt cx="643859" cy="361058"/>
          </a:xfrm>
        </p:grpSpPr>
        <p:sp>
          <p:nvSpPr>
            <p:cNvPr name="Freeform 15" id="15"/>
            <p:cNvSpPr/>
            <p:nvPr/>
          </p:nvSpPr>
          <p:spPr>
            <a:xfrm flipH="false" flipV="false" rot="0">
              <a:off x="0" y="0"/>
              <a:ext cx="643859" cy="361058"/>
            </a:xfrm>
            <a:custGeom>
              <a:avLst/>
              <a:gdLst/>
              <a:ahLst/>
              <a:cxnLst/>
              <a:rect r="r" b="b" t="t" l="l"/>
              <a:pathLst>
                <a:path h="361058" w="643859">
                  <a:moveTo>
                    <a:pt x="33390" y="0"/>
                  </a:moveTo>
                  <a:lnTo>
                    <a:pt x="610470" y="0"/>
                  </a:lnTo>
                  <a:cubicBezTo>
                    <a:pt x="628910" y="0"/>
                    <a:pt x="643859" y="14949"/>
                    <a:pt x="643859" y="33390"/>
                  </a:cubicBezTo>
                  <a:lnTo>
                    <a:pt x="643859" y="327668"/>
                  </a:lnTo>
                  <a:cubicBezTo>
                    <a:pt x="643859" y="336524"/>
                    <a:pt x="640341" y="345017"/>
                    <a:pt x="634080" y="351278"/>
                  </a:cubicBezTo>
                  <a:cubicBezTo>
                    <a:pt x="627818" y="357540"/>
                    <a:pt x="619325" y="361058"/>
                    <a:pt x="610470" y="361058"/>
                  </a:cubicBezTo>
                  <a:lnTo>
                    <a:pt x="33390" y="361058"/>
                  </a:lnTo>
                  <a:cubicBezTo>
                    <a:pt x="24534" y="361058"/>
                    <a:pt x="16041" y="357540"/>
                    <a:pt x="9780" y="351278"/>
                  </a:cubicBezTo>
                  <a:cubicBezTo>
                    <a:pt x="3518" y="345017"/>
                    <a:pt x="0" y="336524"/>
                    <a:pt x="0" y="327668"/>
                  </a:cubicBezTo>
                  <a:lnTo>
                    <a:pt x="0" y="33390"/>
                  </a:lnTo>
                  <a:cubicBezTo>
                    <a:pt x="0" y="24534"/>
                    <a:pt x="3518" y="16041"/>
                    <a:pt x="9780" y="9780"/>
                  </a:cubicBezTo>
                  <a:cubicBezTo>
                    <a:pt x="16041" y="3518"/>
                    <a:pt x="24534" y="0"/>
                    <a:pt x="33390" y="0"/>
                  </a:cubicBezTo>
                  <a:close/>
                </a:path>
              </a:pathLst>
            </a:custGeom>
            <a:blipFill>
              <a:blip r:embed="rId2"/>
              <a:stretch>
                <a:fillRect l="0" t="-154" r="0" b="-154"/>
              </a:stretch>
            </a:blipFill>
          </p:spPr>
        </p:sp>
      </p:grpSp>
      <p:sp>
        <p:nvSpPr>
          <p:cNvPr name="TextBox 16" id="16"/>
          <p:cNvSpPr txBox="true"/>
          <p:nvPr/>
        </p:nvSpPr>
        <p:spPr>
          <a:xfrm rot="0">
            <a:off x="1035665" y="7795259"/>
            <a:ext cx="1666161"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3" tooltip="https://docs.google.com/spreadsheets/d/1ZUXzKNmqiXQ13diMRxntGx3_yJXXbdKV/edit?usp=sharing&amp;ouid=101548568454846273812&amp;rtpof=true&amp;sd=true"/>
              </a:rPr>
              <a:t>Klik File XLSX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5025688"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8" id="8"/>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9" id="9"/>
          <p:cNvGrpSpPr/>
          <p:nvPr/>
        </p:nvGrpSpPr>
        <p:grpSpPr>
          <a:xfrm rot="0">
            <a:off x="666750" y="1310538"/>
            <a:ext cx="7686626" cy="6227630"/>
            <a:chOff x="0" y="0"/>
            <a:chExt cx="10248834" cy="8303506"/>
          </a:xfrm>
        </p:grpSpPr>
        <p:sp>
          <p:nvSpPr>
            <p:cNvPr name="TextBox 10" id="10"/>
            <p:cNvSpPr txBox="true"/>
            <p:nvPr/>
          </p:nvSpPr>
          <p:spPr>
            <a:xfrm rot="0">
              <a:off x="0" y="4252891"/>
              <a:ext cx="8715236" cy="4050615"/>
            </a:xfrm>
            <a:prstGeom prst="rect">
              <a:avLst/>
            </a:prstGeom>
          </p:spPr>
          <p:txBody>
            <a:bodyPr anchor="t" rtlCol="false" tIns="0" lIns="0" bIns="0" rIns="0">
              <a:spAutoFit/>
            </a:bodyPr>
            <a:lstStyle/>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a:t>
              </a:r>
              <a:r>
                <a:rPr lang="en-US" sz="2397" spc="-23">
                  <a:solidFill>
                    <a:srgbClr val="C1C5DE"/>
                  </a:solidFill>
                  <a:latin typeface="Telegraf"/>
                  <a:ea typeface="Telegraf"/>
                  <a:cs typeface="Telegraf"/>
                  <a:sym typeface="Telegraf"/>
                </a:rPr>
                <a:t>ngolah Dataset World Bank Global dari Sumber Publik.</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Membuat Struktur Data Berdasarkan Income Group dan Region.</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Menganalisis Pola Demografi &amp; Geografis Pengguna.</a:t>
              </a:r>
            </a:p>
            <a:p>
              <a:pPr algn="just">
                <a:lnSpc>
                  <a:spcPts val="2636"/>
                </a:lnSpc>
              </a:pPr>
            </a:p>
          </p:txBody>
        </p:sp>
        <p:sp>
          <p:nvSpPr>
            <p:cNvPr name="TextBox 11" id="11"/>
            <p:cNvSpPr txBox="true"/>
            <p:nvPr/>
          </p:nvSpPr>
          <p:spPr>
            <a:xfrm rot="0">
              <a:off x="232363" y="-9525"/>
              <a:ext cx="10016471" cy="3967418"/>
            </a:xfrm>
            <a:prstGeom prst="rect">
              <a:avLst/>
            </a:prstGeom>
          </p:spPr>
          <p:txBody>
            <a:bodyPr anchor="t" rtlCol="false" tIns="0" lIns="0" bIns="0" rIns="0">
              <a:spAutoFit/>
            </a:bodyPr>
            <a:lstStyle/>
            <a:p>
              <a:pPr algn="l" marL="0" indent="0" lvl="0">
                <a:lnSpc>
                  <a:spcPts val="5713"/>
                </a:lnSpc>
              </a:pPr>
              <a:r>
                <a:rPr lang="en-US" b="true" sz="5194" spc="-51">
                  <a:solidFill>
                    <a:srgbClr val="9FA8DA"/>
                  </a:solidFill>
                  <a:latin typeface="Telegraf Bold"/>
                  <a:ea typeface="Telegraf Bold"/>
                  <a:cs typeface="Telegraf Bold"/>
                  <a:sym typeface="Telegraf Bold"/>
                </a:rPr>
                <a:t>Analisis </a:t>
              </a:r>
              <a:r>
                <a:rPr lang="en-US" b="true" sz="5194" spc="-51">
                  <a:solidFill>
                    <a:srgbClr val="9FA8DA"/>
                  </a:solidFill>
                  <a:latin typeface="Telegraf Bold"/>
                  <a:ea typeface="Telegraf Bold"/>
                  <a:cs typeface="Telegraf Bold"/>
                  <a:sym typeface="Telegraf Bold"/>
                </a:rPr>
                <a:t>Populasi Dunia dan Kelompok Pendapatan (2014–2023)</a:t>
              </a:r>
            </a:p>
          </p:txBody>
        </p:sp>
      </p:grpSp>
      <p:sp>
        <p:nvSpPr>
          <p:cNvPr name="TextBox 12" id="12"/>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13" id="13"/>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10</a:t>
            </a:r>
          </a:p>
        </p:txBody>
      </p:sp>
      <p:grpSp>
        <p:nvGrpSpPr>
          <p:cNvPr name="Group 14" id="14"/>
          <p:cNvGrpSpPr/>
          <p:nvPr/>
        </p:nvGrpSpPr>
        <p:grpSpPr>
          <a:xfrm rot="0">
            <a:off x="8642425" y="1310538"/>
            <a:ext cx="8928908" cy="6501932"/>
            <a:chOff x="0" y="0"/>
            <a:chExt cx="643859" cy="468851"/>
          </a:xfrm>
        </p:grpSpPr>
        <p:sp>
          <p:nvSpPr>
            <p:cNvPr name="Freeform 15" id="15"/>
            <p:cNvSpPr/>
            <p:nvPr/>
          </p:nvSpPr>
          <p:spPr>
            <a:xfrm flipH="false" flipV="false" rot="0">
              <a:off x="0" y="0"/>
              <a:ext cx="643859" cy="468851"/>
            </a:xfrm>
            <a:custGeom>
              <a:avLst/>
              <a:gdLst/>
              <a:ahLst/>
              <a:cxnLst/>
              <a:rect r="r" b="b" t="t" l="l"/>
              <a:pathLst>
                <a:path h="468851" w="643859">
                  <a:moveTo>
                    <a:pt x="30347" y="0"/>
                  </a:moveTo>
                  <a:lnTo>
                    <a:pt x="613512" y="0"/>
                  </a:lnTo>
                  <a:cubicBezTo>
                    <a:pt x="630272" y="0"/>
                    <a:pt x="643859" y="13587"/>
                    <a:pt x="643859" y="30347"/>
                  </a:cubicBezTo>
                  <a:lnTo>
                    <a:pt x="643859" y="438504"/>
                  </a:lnTo>
                  <a:cubicBezTo>
                    <a:pt x="643859" y="446553"/>
                    <a:pt x="640662" y="454271"/>
                    <a:pt x="634971" y="459963"/>
                  </a:cubicBezTo>
                  <a:cubicBezTo>
                    <a:pt x="629280" y="465654"/>
                    <a:pt x="621561" y="468851"/>
                    <a:pt x="613512" y="468851"/>
                  </a:cubicBezTo>
                  <a:lnTo>
                    <a:pt x="30347" y="468851"/>
                  </a:lnTo>
                  <a:cubicBezTo>
                    <a:pt x="22299" y="468851"/>
                    <a:pt x="14580" y="465654"/>
                    <a:pt x="8888" y="459963"/>
                  </a:cubicBezTo>
                  <a:cubicBezTo>
                    <a:pt x="3197" y="454271"/>
                    <a:pt x="0" y="446553"/>
                    <a:pt x="0" y="438504"/>
                  </a:cubicBezTo>
                  <a:lnTo>
                    <a:pt x="0" y="30347"/>
                  </a:lnTo>
                  <a:cubicBezTo>
                    <a:pt x="0" y="22299"/>
                    <a:pt x="3197" y="14580"/>
                    <a:pt x="8888" y="8888"/>
                  </a:cubicBezTo>
                  <a:cubicBezTo>
                    <a:pt x="14580" y="3197"/>
                    <a:pt x="22299" y="0"/>
                    <a:pt x="30347" y="0"/>
                  </a:cubicBezTo>
                  <a:close/>
                </a:path>
              </a:pathLst>
            </a:custGeom>
            <a:blipFill>
              <a:blip r:embed="rId2"/>
              <a:stretch>
                <a:fillRect l="0" t="-1669" r="0" b="-1669"/>
              </a:stretch>
            </a:blipFill>
          </p:spPr>
        </p:sp>
      </p:grpSp>
      <p:sp>
        <p:nvSpPr>
          <p:cNvPr name="TextBox 16" id="16"/>
          <p:cNvSpPr txBox="true"/>
          <p:nvPr/>
        </p:nvSpPr>
        <p:spPr>
          <a:xfrm rot="0">
            <a:off x="1114008" y="7795259"/>
            <a:ext cx="1509474"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3" tooltip="https://drive.google.com/file/d/1dwM2P50CJdqK-tLAJCnzVKsWQ9ZrKGSD/view?usp=sharing"/>
              </a:rPr>
              <a:t>Klik </a:t>
            </a:r>
            <a:r>
              <a:rPr lang="en-US" b="true" sz="2000" spc="-20" u="sng">
                <a:solidFill>
                  <a:srgbClr val="A292D9"/>
                </a:solidFill>
                <a:latin typeface="Telegraf Bold"/>
                <a:ea typeface="Telegraf Bold"/>
                <a:cs typeface="Telegraf Bold"/>
                <a:sym typeface="Telegraf Bold"/>
                <a:hlinkClick r:id="rId4" tooltip="https://drive.google.com/file/d/1dwM2P50CJdqK-tLAJCnzVKsWQ9ZrKGSD/view?usp=sharing"/>
              </a:rPr>
              <a:t>Gambar</a:t>
            </a:r>
          </a:p>
        </p:txBody>
      </p:sp>
      <p:sp>
        <p:nvSpPr>
          <p:cNvPr name="TextBox 17" id="17"/>
          <p:cNvSpPr txBox="true"/>
          <p:nvPr/>
        </p:nvSpPr>
        <p:spPr>
          <a:xfrm rot="0">
            <a:off x="3183597" y="7795259"/>
            <a:ext cx="2305288"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5" tooltip="https://lookerstudio.google.com/reporting/c656a9ff-0d2e-4d47-ad9f-b254711cfc9a"/>
              </a:rPr>
              <a:t>Klik </a:t>
            </a:r>
            <a:r>
              <a:rPr lang="en-US" b="true" sz="2000" spc="-20" u="sng">
                <a:solidFill>
                  <a:srgbClr val="A292D9"/>
                </a:solidFill>
                <a:latin typeface="Telegraf Bold"/>
                <a:ea typeface="Telegraf Bold"/>
                <a:cs typeface="Telegraf Bold"/>
                <a:sym typeface="Telegraf Bold"/>
                <a:hlinkClick r:id="rId6" tooltip="https://lookerstudio.google.com/reporting/c656a9ff-0d2e-4d47-ad9f-b254711cfc9a"/>
              </a:rPr>
              <a:t> Looker Studio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5025688"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8" id="8"/>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9" id="9"/>
          <p:cNvGrpSpPr/>
          <p:nvPr/>
        </p:nvGrpSpPr>
        <p:grpSpPr>
          <a:xfrm rot="0">
            <a:off x="10659180" y="5636461"/>
            <a:ext cx="5321646" cy="3380263"/>
            <a:chOff x="0" y="0"/>
            <a:chExt cx="643859" cy="408974"/>
          </a:xfrm>
        </p:grpSpPr>
        <p:sp>
          <p:nvSpPr>
            <p:cNvPr name="Freeform 10" id="10"/>
            <p:cNvSpPr/>
            <p:nvPr/>
          </p:nvSpPr>
          <p:spPr>
            <a:xfrm flipH="false" flipV="false" rot="0">
              <a:off x="0" y="0"/>
              <a:ext cx="643859" cy="408974"/>
            </a:xfrm>
            <a:custGeom>
              <a:avLst/>
              <a:gdLst/>
              <a:ahLst/>
              <a:cxnLst/>
              <a:rect r="r" b="b" t="t" l="l"/>
              <a:pathLst>
                <a:path h="408974" w="643859">
                  <a:moveTo>
                    <a:pt x="50918" y="0"/>
                  </a:moveTo>
                  <a:lnTo>
                    <a:pt x="592941" y="0"/>
                  </a:lnTo>
                  <a:cubicBezTo>
                    <a:pt x="621063" y="0"/>
                    <a:pt x="643859" y="22797"/>
                    <a:pt x="643859" y="50918"/>
                  </a:cubicBezTo>
                  <a:lnTo>
                    <a:pt x="643859" y="358056"/>
                  </a:lnTo>
                  <a:cubicBezTo>
                    <a:pt x="643859" y="371560"/>
                    <a:pt x="638495" y="384511"/>
                    <a:pt x="628946" y="394060"/>
                  </a:cubicBezTo>
                  <a:cubicBezTo>
                    <a:pt x="619397" y="403609"/>
                    <a:pt x="606446" y="408974"/>
                    <a:pt x="592941" y="408974"/>
                  </a:cubicBezTo>
                  <a:lnTo>
                    <a:pt x="50918" y="408974"/>
                  </a:lnTo>
                  <a:cubicBezTo>
                    <a:pt x="37414" y="408974"/>
                    <a:pt x="24462" y="403609"/>
                    <a:pt x="14914" y="394060"/>
                  </a:cubicBezTo>
                  <a:cubicBezTo>
                    <a:pt x="5365" y="384511"/>
                    <a:pt x="0" y="371560"/>
                    <a:pt x="0" y="358056"/>
                  </a:cubicBezTo>
                  <a:lnTo>
                    <a:pt x="0" y="50918"/>
                  </a:lnTo>
                  <a:cubicBezTo>
                    <a:pt x="0" y="37414"/>
                    <a:pt x="5365" y="24462"/>
                    <a:pt x="14914" y="14914"/>
                  </a:cubicBezTo>
                  <a:cubicBezTo>
                    <a:pt x="24462" y="5365"/>
                    <a:pt x="37414" y="0"/>
                    <a:pt x="50918" y="0"/>
                  </a:cubicBezTo>
                  <a:close/>
                </a:path>
              </a:pathLst>
            </a:custGeom>
            <a:blipFill>
              <a:blip r:embed="rId2"/>
              <a:stretch>
                <a:fillRect l="0" t="0" r="-12922" b="0"/>
              </a:stretch>
            </a:blipFill>
          </p:spPr>
        </p:sp>
      </p:grpSp>
      <p:grpSp>
        <p:nvGrpSpPr>
          <p:cNvPr name="Group 11" id="11"/>
          <p:cNvGrpSpPr/>
          <p:nvPr/>
        </p:nvGrpSpPr>
        <p:grpSpPr>
          <a:xfrm rot="0">
            <a:off x="10659180" y="1856972"/>
            <a:ext cx="5321646" cy="3380263"/>
            <a:chOff x="0" y="0"/>
            <a:chExt cx="643859" cy="408974"/>
          </a:xfrm>
        </p:grpSpPr>
        <p:sp>
          <p:nvSpPr>
            <p:cNvPr name="Freeform 12" id="12"/>
            <p:cNvSpPr/>
            <p:nvPr/>
          </p:nvSpPr>
          <p:spPr>
            <a:xfrm flipH="false" flipV="false" rot="0">
              <a:off x="0" y="0"/>
              <a:ext cx="643859" cy="408974"/>
            </a:xfrm>
            <a:custGeom>
              <a:avLst/>
              <a:gdLst/>
              <a:ahLst/>
              <a:cxnLst/>
              <a:rect r="r" b="b" t="t" l="l"/>
              <a:pathLst>
                <a:path h="408974" w="643859">
                  <a:moveTo>
                    <a:pt x="50918" y="0"/>
                  </a:moveTo>
                  <a:lnTo>
                    <a:pt x="592941" y="0"/>
                  </a:lnTo>
                  <a:cubicBezTo>
                    <a:pt x="621063" y="0"/>
                    <a:pt x="643859" y="22797"/>
                    <a:pt x="643859" y="50918"/>
                  </a:cubicBezTo>
                  <a:lnTo>
                    <a:pt x="643859" y="358056"/>
                  </a:lnTo>
                  <a:cubicBezTo>
                    <a:pt x="643859" y="371560"/>
                    <a:pt x="638495" y="384511"/>
                    <a:pt x="628946" y="394060"/>
                  </a:cubicBezTo>
                  <a:cubicBezTo>
                    <a:pt x="619397" y="403609"/>
                    <a:pt x="606446" y="408974"/>
                    <a:pt x="592941" y="408974"/>
                  </a:cubicBezTo>
                  <a:lnTo>
                    <a:pt x="50918" y="408974"/>
                  </a:lnTo>
                  <a:cubicBezTo>
                    <a:pt x="37414" y="408974"/>
                    <a:pt x="24462" y="403609"/>
                    <a:pt x="14914" y="394060"/>
                  </a:cubicBezTo>
                  <a:cubicBezTo>
                    <a:pt x="5365" y="384511"/>
                    <a:pt x="0" y="371560"/>
                    <a:pt x="0" y="358056"/>
                  </a:cubicBezTo>
                  <a:lnTo>
                    <a:pt x="0" y="50918"/>
                  </a:lnTo>
                  <a:cubicBezTo>
                    <a:pt x="0" y="37414"/>
                    <a:pt x="5365" y="24462"/>
                    <a:pt x="14914" y="14914"/>
                  </a:cubicBezTo>
                  <a:cubicBezTo>
                    <a:pt x="24462" y="5365"/>
                    <a:pt x="37414" y="0"/>
                    <a:pt x="50918" y="0"/>
                  </a:cubicBezTo>
                  <a:close/>
                </a:path>
              </a:pathLst>
            </a:custGeom>
            <a:blipFill>
              <a:blip r:embed="rId3"/>
              <a:stretch>
                <a:fillRect l="-6461" t="0" r="-6461" b="0"/>
              </a:stretch>
            </a:blipFill>
          </p:spPr>
        </p:sp>
      </p:grpSp>
      <p:sp>
        <p:nvSpPr>
          <p:cNvPr name="TextBox 13" id="13"/>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14" id="14"/>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11</a:t>
            </a:r>
          </a:p>
        </p:txBody>
      </p:sp>
      <p:grpSp>
        <p:nvGrpSpPr>
          <p:cNvPr name="Group 15" id="15"/>
          <p:cNvGrpSpPr/>
          <p:nvPr/>
        </p:nvGrpSpPr>
        <p:grpSpPr>
          <a:xfrm rot="0">
            <a:off x="1028700" y="1856972"/>
            <a:ext cx="7686626" cy="4776402"/>
            <a:chOff x="0" y="0"/>
            <a:chExt cx="10248834" cy="6368536"/>
          </a:xfrm>
        </p:grpSpPr>
        <p:sp>
          <p:nvSpPr>
            <p:cNvPr name="TextBox 16" id="16"/>
            <p:cNvSpPr txBox="true"/>
            <p:nvPr/>
          </p:nvSpPr>
          <p:spPr>
            <a:xfrm rot="0">
              <a:off x="0" y="2317922"/>
              <a:ext cx="8715236" cy="4050615"/>
            </a:xfrm>
            <a:prstGeom prst="rect">
              <a:avLst/>
            </a:prstGeom>
          </p:spPr>
          <p:txBody>
            <a:bodyPr anchor="t" rtlCol="false" tIns="0" lIns="0" bIns="0" rIns="0">
              <a:spAutoFit/>
            </a:bodyPr>
            <a:lstStyle/>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a:t>
              </a:r>
              <a:r>
                <a:rPr lang="en-US" sz="2397" spc="-23">
                  <a:solidFill>
                    <a:srgbClr val="C1C5DE"/>
                  </a:solidFill>
                  <a:latin typeface="Telegraf"/>
                  <a:ea typeface="Telegraf"/>
                  <a:cs typeface="Telegraf"/>
                  <a:sym typeface="Telegraf"/>
                </a:rPr>
                <a:t>ngolah Dataset Properti AS dari Sumber Publik</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Menghitung Metric Penting untuk Evaluasi Pasar</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Menganalisis Pola Harga Berdasarkan Fitur Properti</a:t>
              </a:r>
            </a:p>
            <a:p>
              <a:pPr algn="just">
                <a:lnSpc>
                  <a:spcPts val="2636"/>
                </a:lnSpc>
              </a:pPr>
            </a:p>
          </p:txBody>
        </p:sp>
        <p:sp>
          <p:nvSpPr>
            <p:cNvPr name="TextBox 17" id="17"/>
            <p:cNvSpPr txBox="true"/>
            <p:nvPr/>
          </p:nvSpPr>
          <p:spPr>
            <a:xfrm rot="0">
              <a:off x="232363" y="-9525"/>
              <a:ext cx="10016471" cy="2032448"/>
            </a:xfrm>
            <a:prstGeom prst="rect">
              <a:avLst/>
            </a:prstGeom>
          </p:spPr>
          <p:txBody>
            <a:bodyPr anchor="t" rtlCol="false" tIns="0" lIns="0" bIns="0" rIns="0">
              <a:spAutoFit/>
            </a:bodyPr>
            <a:lstStyle/>
            <a:p>
              <a:pPr algn="l" marL="0" indent="0" lvl="0">
                <a:lnSpc>
                  <a:spcPts val="5713"/>
                </a:lnSpc>
              </a:pPr>
              <a:r>
                <a:rPr lang="en-US" b="true" sz="5194" spc="-51">
                  <a:solidFill>
                    <a:srgbClr val="9FA8DA"/>
                  </a:solidFill>
                  <a:latin typeface="Telegraf Bold"/>
                  <a:ea typeface="Telegraf Bold"/>
                  <a:cs typeface="Telegraf Bold"/>
                  <a:sym typeface="Telegraf Bold"/>
                </a:rPr>
                <a:t>Analisis &amp; Visualisasi  Pasar Rumah AS</a:t>
              </a:r>
            </a:p>
          </p:txBody>
        </p:sp>
      </p:grpSp>
      <p:sp>
        <p:nvSpPr>
          <p:cNvPr name="TextBox 18" id="18"/>
          <p:cNvSpPr txBox="true"/>
          <p:nvPr/>
        </p:nvSpPr>
        <p:spPr>
          <a:xfrm rot="0">
            <a:off x="1035665" y="7795259"/>
            <a:ext cx="1666161"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4" tooltip="https://docs.google.com/spreadsheets/d/11gIEwjEjAoc_h74e3lfJULQ7mBR4BBno/edit?usp=sharing&amp;ouid=101548568454846273812&amp;rtpof=true&amp;sd=true"/>
              </a:rPr>
              <a:t>Klik File XLSX</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5025688"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8" id="8"/>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9" id="9"/>
          <p:cNvGrpSpPr/>
          <p:nvPr/>
        </p:nvGrpSpPr>
        <p:grpSpPr>
          <a:xfrm rot="0">
            <a:off x="8642425" y="1310538"/>
            <a:ext cx="8928908" cy="6501932"/>
            <a:chOff x="0" y="0"/>
            <a:chExt cx="643859" cy="468851"/>
          </a:xfrm>
        </p:grpSpPr>
        <p:sp>
          <p:nvSpPr>
            <p:cNvPr name="Freeform 10" id="10"/>
            <p:cNvSpPr/>
            <p:nvPr/>
          </p:nvSpPr>
          <p:spPr>
            <a:xfrm flipH="false" flipV="false" rot="0">
              <a:off x="0" y="0"/>
              <a:ext cx="643859" cy="468851"/>
            </a:xfrm>
            <a:custGeom>
              <a:avLst/>
              <a:gdLst/>
              <a:ahLst/>
              <a:cxnLst/>
              <a:rect r="r" b="b" t="t" l="l"/>
              <a:pathLst>
                <a:path h="468851" w="643859">
                  <a:moveTo>
                    <a:pt x="30347" y="0"/>
                  </a:moveTo>
                  <a:lnTo>
                    <a:pt x="613512" y="0"/>
                  </a:lnTo>
                  <a:cubicBezTo>
                    <a:pt x="630272" y="0"/>
                    <a:pt x="643859" y="13587"/>
                    <a:pt x="643859" y="30347"/>
                  </a:cubicBezTo>
                  <a:lnTo>
                    <a:pt x="643859" y="438504"/>
                  </a:lnTo>
                  <a:cubicBezTo>
                    <a:pt x="643859" y="446553"/>
                    <a:pt x="640662" y="454271"/>
                    <a:pt x="634971" y="459963"/>
                  </a:cubicBezTo>
                  <a:cubicBezTo>
                    <a:pt x="629280" y="465654"/>
                    <a:pt x="621561" y="468851"/>
                    <a:pt x="613512" y="468851"/>
                  </a:cubicBezTo>
                  <a:lnTo>
                    <a:pt x="30347" y="468851"/>
                  </a:lnTo>
                  <a:cubicBezTo>
                    <a:pt x="22299" y="468851"/>
                    <a:pt x="14580" y="465654"/>
                    <a:pt x="8888" y="459963"/>
                  </a:cubicBezTo>
                  <a:cubicBezTo>
                    <a:pt x="3197" y="454271"/>
                    <a:pt x="0" y="446553"/>
                    <a:pt x="0" y="438504"/>
                  </a:cubicBezTo>
                  <a:lnTo>
                    <a:pt x="0" y="30347"/>
                  </a:lnTo>
                  <a:cubicBezTo>
                    <a:pt x="0" y="22299"/>
                    <a:pt x="3197" y="14580"/>
                    <a:pt x="8888" y="8888"/>
                  </a:cubicBezTo>
                  <a:cubicBezTo>
                    <a:pt x="14580" y="3197"/>
                    <a:pt x="22299" y="0"/>
                    <a:pt x="30347" y="0"/>
                  </a:cubicBezTo>
                  <a:close/>
                </a:path>
              </a:pathLst>
            </a:custGeom>
            <a:blipFill>
              <a:blip r:embed="rId2"/>
              <a:stretch>
                <a:fillRect l="-65019" t="0" r="-9920" b="0"/>
              </a:stretch>
            </a:blipFill>
          </p:spPr>
        </p:sp>
      </p:grpSp>
      <p:sp>
        <p:nvSpPr>
          <p:cNvPr name="TextBox 11" id="11"/>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12" id="12"/>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12</a:t>
            </a:r>
          </a:p>
        </p:txBody>
      </p:sp>
      <p:grpSp>
        <p:nvGrpSpPr>
          <p:cNvPr name="Group 13" id="13"/>
          <p:cNvGrpSpPr/>
          <p:nvPr/>
        </p:nvGrpSpPr>
        <p:grpSpPr>
          <a:xfrm rot="0">
            <a:off x="1028700" y="1856972"/>
            <a:ext cx="7686626" cy="4443027"/>
            <a:chOff x="0" y="0"/>
            <a:chExt cx="10248834" cy="5924036"/>
          </a:xfrm>
        </p:grpSpPr>
        <p:sp>
          <p:nvSpPr>
            <p:cNvPr name="TextBox 14" id="14"/>
            <p:cNvSpPr txBox="true"/>
            <p:nvPr/>
          </p:nvSpPr>
          <p:spPr>
            <a:xfrm rot="0">
              <a:off x="0" y="2317922"/>
              <a:ext cx="8715236" cy="3606115"/>
            </a:xfrm>
            <a:prstGeom prst="rect">
              <a:avLst/>
            </a:prstGeom>
          </p:spPr>
          <p:txBody>
            <a:bodyPr anchor="t" rtlCol="false" tIns="0" lIns="0" bIns="0" rIns="0">
              <a:spAutoFit/>
            </a:bodyPr>
            <a:lstStyle/>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Menyajikan h</a:t>
              </a:r>
              <a:r>
                <a:rPr lang="en-US" sz="2397" spc="-23">
                  <a:solidFill>
                    <a:srgbClr val="C1C5DE"/>
                  </a:solidFill>
                  <a:latin typeface="Telegraf"/>
                  <a:ea typeface="Telegraf"/>
                  <a:cs typeface="Telegraf"/>
                  <a:sym typeface="Telegraf"/>
                </a:rPr>
                <a:t>ubungan Harga dengan Fitur Properti</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Menyajikan jumlah homebuyer berdasarkan jumlah kamar &amp; lantai</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Memberikan Rekomendasi Bisnis Nyata</a:t>
              </a:r>
            </a:p>
            <a:p>
              <a:pPr algn="just">
                <a:lnSpc>
                  <a:spcPts val="2636"/>
                </a:lnSpc>
              </a:pPr>
            </a:p>
          </p:txBody>
        </p:sp>
        <p:sp>
          <p:nvSpPr>
            <p:cNvPr name="TextBox 15" id="15"/>
            <p:cNvSpPr txBox="true"/>
            <p:nvPr/>
          </p:nvSpPr>
          <p:spPr>
            <a:xfrm rot="0">
              <a:off x="232363" y="-9525"/>
              <a:ext cx="10016471" cy="2032448"/>
            </a:xfrm>
            <a:prstGeom prst="rect">
              <a:avLst/>
            </a:prstGeom>
          </p:spPr>
          <p:txBody>
            <a:bodyPr anchor="t" rtlCol="false" tIns="0" lIns="0" bIns="0" rIns="0">
              <a:spAutoFit/>
            </a:bodyPr>
            <a:lstStyle/>
            <a:p>
              <a:pPr algn="l" marL="0" indent="0" lvl="0">
                <a:lnSpc>
                  <a:spcPts val="5713"/>
                </a:lnSpc>
              </a:pPr>
              <a:r>
                <a:rPr lang="en-US" b="true" sz="5194" spc="-51">
                  <a:solidFill>
                    <a:srgbClr val="9FA8DA"/>
                  </a:solidFill>
                  <a:latin typeface="Telegraf Bold"/>
                  <a:ea typeface="Telegraf Bold"/>
                  <a:cs typeface="Telegraf Bold"/>
                  <a:sym typeface="Telegraf Bold"/>
                </a:rPr>
                <a:t>Analisis &amp; Vis</a:t>
              </a:r>
              <a:r>
                <a:rPr lang="en-US" b="true" sz="5194" spc="-51">
                  <a:solidFill>
                    <a:srgbClr val="9FA8DA"/>
                  </a:solidFill>
                  <a:latin typeface="Telegraf Bold"/>
                  <a:ea typeface="Telegraf Bold"/>
                  <a:cs typeface="Telegraf Bold"/>
                  <a:sym typeface="Telegraf Bold"/>
                </a:rPr>
                <a:t>ualisasi</a:t>
              </a:r>
            </a:p>
            <a:p>
              <a:pPr algn="l" marL="0" indent="0" lvl="0">
                <a:lnSpc>
                  <a:spcPts val="5713"/>
                </a:lnSpc>
              </a:pPr>
              <a:r>
                <a:rPr lang="en-US" b="true" sz="5194" spc="-51">
                  <a:solidFill>
                    <a:srgbClr val="9FA8DA"/>
                  </a:solidFill>
                  <a:latin typeface="Telegraf Bold"/>
                  <a:ea typeface="Telegraf Bold"/>
                  <a:cs typeface="Telegraf Bold"/>
                  <a:sym typeface="Telegraf Bold"/>
                </a:rPr>
                <a:t>Pasar Rumah AS</a:t>
              </a:r>
            </a:p>
          </p:txBody>
        </p:sp>
      </p:grpSp>
      <p:sp>
        <p:nvSpPr>
          <p:cNvPr name="TextBox 16" id="16"/>
          <p:cNvSpPr txBox="true"/>
          <p:nvPr/>
        </p:nvSpPr>
        <p:spPr>
          <a:xfrm rot="0">
            <a:off x="1035665" y="7795259"/>
            <a:ext cx="1666161"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3" tooltip="https://docs.google.com/spreadsheets/d/11gIEwjEjAoc_h74e3lfJULQ7mBR4BBno/edit?usp=sharing&amp;ouid=101548568454846273812&amp;rtpof=true&amp;sd=true"/>
              </a:rPr>
              <a:t>Klik File XLSX</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12543" cy="2709333"/>
          </a:xfrm>
        </p:grpSpPr>
        <p:sp>
          <p:nvSpPr>
            <p:cNvPr name="Freeform 3" id="3"/>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solidFill>
              <a:srgbClr val="3B2A6C"/>
            </a:solidFill>
          </p:spPr>
        </p:sp>
        <p:sp>
          <p:nvSpPr>
            <p:cNvPr name="TextBox 4" id="4"/>
            <p:cNvSpPr txBox="true"/>
            <p:nvPr/>
          </p:nvSpPr>
          <p:spPr>
            <a:xfrm>
              <a:off x="0" y="-76200"/>
              <a:ext cx="12543"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5025688"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3B2A6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8" id="8"/>
          <p:cNvSpPr/>
          <p:nvPr/>
        </p:nvSpPr>
        <p:spPr>
          <a:xfrm>
            <a:off x="666750" y="9620250"/>
            <a:ext cx="16954500" cy="0"/>
          </a:xfrm>
          <a:prstGeom prst="line">
            <a:avLst/>
          </a:prstGeom>
          <a:ln cap="flat" w="9525">
            <a:solidFill>
              <a:srgbClr val="9FA8DA"/>
            </a:solidFill>
            <a:prstDash val="solid"/>
            <a:headEnd type="none" len="sm" w="sm"/>
            <a:tailEnd type="none" len="sm" w="sm"/>
          </a:ln>
        </p:spPr>
      </p:sp>
      <p:grpSp>
        <p:nvGrpSpPr>
          <p:cNvPr name="Group 9" id="9"/>
          <p:cNvGrpSpPr/>
          <p:nvPr/>
        </p:nvGrpSpPr>
        <p:grpSpPr>
          <a:xfrm rot="0">
            <a:off x="10054385" y="1028700"/>
            <a:ext cx="5476127" cy="3987655"/>
            <a:chOff x="0" y="0"/>
            <a:chExt cx="643859" cy="468851"/>
          </a:xfrm>
        </p:grpSpPr>
        <p:sp>
          <p:nvSpPr>
            <p:cNvPr name="Freeform 10" id="10"/>
            <p:cNvSpPr/>
            <p:nvPr/>
          </p:nvSpPr>
          <p:spPr>
            <a:xfrm flipH="false" flipV="false" rot="0">
              <a:off x="0" y="0"/>
              <a:ext cx="643859" cy="468851"/>
            </a:xfrm>
            <a:custGeom>
              <a:avLst/>
              <a:gdLst/>
              <a:ahLst/>
              <a:cxnLst/>
              <a:rect r="r" b="b" t="t" l="l"/>
              <a:pathLst>
                <a:path h="468851" w="643859">
                  <a:moveTo>
                    <a:pt x="49482" y="0"/>
                  </a:moveTo>
                  <a:lnTo>
                    <a:pt x="594378" y="0"/>
                  </a:lnTo>
                  <a:cubicBezTo>
                    <a:pt x="621706" y="0"/>
                    <a:pt x="643859" y="22154"/>
                    <a:pt x="643859" y="49482"/>
                  </a:cubicBezTo>
                  <a:lnTo>
                    <a:pt x="643859" y="419370"/>
                  </a:lnTo>
                  <a:cubicBezTo>
                    <a:pt x="643859" y="432493"/>
                    <a:pt x="638646" y="445079"/>
                    <a:pt x="629366" y="454358"/>
                  </a:cubicBezTo>
                  <a:cubicBezTo>
                    <a:pt x="620087" y="463638"/>
                    <a:pt x="607501" y="468851"/>
                    <a:pt x="594378" y="468851"/>
                  </a:cubicBezTo>
                  <a:lnTo>
                    <a:pt x="49482" y="468851"/>
                  </a:lnTo>
                  <a:cubicBezTo>
                    <a:pt x="36358" y="468851"/>
                    <a:pt x="23772" y="463638"/>
                    <a:pt x="14493" y="454358"/>
                  </a:cubicBezTo>
                  <a:cubicBezTo>
                    <a:pt x="5213" y="445079"/>
                    <a:pt x="0" y="432493"/>
                    <a:pt x="0" y="419370"/>
                  </a:cubicBezTo>
                  <a:lnTo>
                    <a:pt x="0" y="49482"/>
                  </a:lnTo>
                  <a:cubicBezTo>
                    <a:pt x="0" y="36358"/>
                    <a:pt x="5213" y="23772"/>
                    <a:pt x="14493" y="14493"/>
                  </a:cubicBezTo>
                  <a:cubicBezTo>
                    <a:pt x="23772" y="5213"/>
                    <a:pt x="36358" y="0"/>
                    <a:pt x="49482" y="0"/>
                  </a:cubicBezTo>
                  <a:close/>
                </a:path>
              </a:pathLst>
            </a:custGeom>
            <a:blipFill>
              <a:blip r:embed="rId2"/>
              <a:stretch>
                <a:fillRect l="0" t="0" r="-29455" b="0"/>
              </a:stretch>
            </a:blipFill>
          </p:spPr>
        </p:sp>
      </p:grpSp>
      <p:grpSp>
        <p:nvGrpSpPr>
          <p:cNvPr name="Group 11" id="11"/>
          <p:cNvGrpSpPr/>
          <p:nvPr/>
        </p:nvGrpSpPr>
        <p:grpSpPr>
          <a:xfrm rot="0">
            <a:off x="10054385" y="5372954"/>
            <a:ext cx="5336437" cy="3885934"/>
            <a:chOff x="0" y="0"/>
            <a:chExt cx="643859" cy="468851"/>
          </a:xfrm>
        </p:grpSpPr>
        <p:sp>
          <p:nvSpPr>
            <p:cNvPr name="Freeform 12" id="12"/>
            <p:cNvSpPr/>
            <p:nvPr/>
          </p:nvSpPr>
          <p:spPr>
            <a:xfrm flipH="false" flipV="false" rot="0">
              <a:off x="0" y="0"/>
              <a:ext cx="643859" cy="468851"/>
            </a:xfrm>
            <a:custGeom>
              <a:avLst/>
              <a:gdLst/>
              <a:ahLst/>
              <a:cxnLst/>
              <a:rect r="r" b="b" t="t" l="l"/>
              <a:pathLst>
                <a:path h="468851" w="643859">
                  <a:moveTo>
                    <a:pt x="50777" y="0"/>
                  </a:moveTo>
                  <a:lnTo>
                    <a:pt x="593083" y="0"/>
                  </a:lnTo>
                  <a:cubicBezTo>
                    <a:pt x="621126" y="0"/>
                    <a:pt x="643859" y="22734"/>
                    <a:pt x="643859" y="50777"/>
                  </a:cubicBezTo>
                  <a:lnTo>
                    <a:pt x="643859" y="418074"/>
                  </a:lnTo>
                  <a:cubicBezTo>
                    <a:pt x="643859" y="431541"/>
                    <a:pt x="638510" y="444456"/>
                    <a:pt x="628987" y="453979"/>
                  </a:cubicBezTo>
                  <a:cubicBezTo>
                    <a:pt x="619465" y="463502"/>
                    <a:pt x="606549" y="468851"/>
                    <a:pt x="593083" y="468851"/>
                  </a:cubicBezTo>
                  <a:lnTo>
                    <a:pt x="50777" y="468851"/>
                  </a:lnTo>
                  <a:cubicBezTo>
                    <a:pt x="37310" y="468851"/>
                    <a:pt x="24395" y="463502"/>
                    <a:pt x="14872" y="453979"/>
                  </a:cubicBezTo>
                  <a:cubicBezTo>
                    <a:pt x="5350" y="444456"/>
                    <a:pt x="0" y="431541"/>
                    <a:pt x="0" y="418074"/>
                  </a:cubicBezTo>
                  <a:lnTo>
                    <a:pt x="0" y="50777"/>
                  </a:lnTo>
                  <a:cubicBezTo>
                    <a:pt x="0" y="37310"/>
                    <a:pt x="5350" y="24395"/>
                    <a:pt x="14872" y="14872"/>
                  </a:cubicBezTo>
                  <a:cubicBezTo>
                    <a:pt x="24395" y="5350"/>
                    <a:pt x="37310" y="0"/>
                    <a:pt x="50777" y="0"/>
                  </a:cubicBezTo>
                  <a:close/>
                </a:path>
              </a:pathLst>
            </a:custGeom>
            <a:blipFill>
              <a:blip r:embed="rId3"/>
              <a:stretch>
                <a:fillRect l="0" t="0" r="-29455" b="0"/>
              </a:stretch>
            </a:blipFill>
          </p:spPr>
        </p:sp>
      </p:grpSp>
      <p:sp>
        <p:nvSpPr>
          <p:cNvPr name="TextBox 13" id="13"/>
          <p:cNvSpPr txBox="true"/>
          <p:nvPr/>
        </p:nvSpPr>
        <p:spPr>
          <a:xfrm rot="0">
            <a:off x="666750" y="9676455"/>
            <a:ext cx="2571750" cy="217170"/>
          </a:xfrm>
          <a:prstGeom prst="rect">
            <a:avLst/>
          </a:prstGeom>
        </p:spPr>
        <p:txBody>
          <a:bodyPr anchor="t" rtlCol="false" tIns="0" lIns="0" bIns="0" rIns="0">
            <a:spAutoFit/>
          </a:bodyPr>
          <a:lstStyle/>
          <a:p>
            <a:pPr algn="l" marL="0" indent="0" lvl="0">
              <a:lnSpc>
                <a:spcPts val="1679"/>
              </a:lnSpc>
              <a:spcBef>
                <a:spcPct val="0"/>
              </a:spcBef>
            </a:pPr>
            <a:r>
              <a:rPr lang="en-US" b="true" sz="1200" spc="-12">
                <a:solidFill>
                  <a:srgbClr val="C1C5DE"/>
                </a:solidFill>
                <a:latin typeface="Telegraf Bold"/>
                <a:ea typeface="Telegraf Bold"/>
                <a:cs typeface="Telegraf Bold"/>
                <a:sym typeface="Telegraf Bold"/>
              </a:rPr>
              <a:t>DETAIL PROYEK</a:t>
            </a:r>
          </a:p>
        </p:txBody>
      </p:sp>
      <p:sp>
        <p:nvSpPr>
          <p:cNvPr name="TextBox 14" id="14"/>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C1C5DE"/>
                </a:solidFill>
                <a:latin typeface="Telegraf Bold"/>
                <a:ea typeface="Telegraf Bold"/>
                <a:cs typeface="Telegraf Bold"/>
                <a:sym typeface="Telegraf Bold"/>
              </a:rPr>
              <a:t>13</a:t>
            </a:r>
          </a:p>
        </p:txBody>
      </p:sp>
      <p:grpSp>
        <p:nvGrpSpPr>
          <p:cNvPr name="Group 15" id="15"/>
          <p:cNvGrpSpPr/>
          <p:nvPr/>
        </p:nvGrpSpPr>
        <p:grpSpPr>
          <a:xfrm rot="0">
            <a:off x="1028700" y="1856972"/>
            <a:ext cx="7686626" cy="4443027"/>
            <a:chOff x="0" y="0"/>
            <a:chExt cx="10248834" cy="5924036"/>
          </a:xfrm>
        </p:grpSpPr>
        <p:sp>
          <p:nvSpPr>
            <p:cNvPr name="TextBox 16" id="16"/>
            <p:cNvSpPr txBox="true"/>
            <p:nvPr/>
          </p:nvSpPr>
          <p:spPr>
            <a:xfrm rot="0">
              <a:off x="0" y="2317922"/>
              <a:ext cx="8715236" cy="3606115"/>
            </a:xfrm>
            <a:prstGeom prst="rect">
              <a:avLst/>
            </a:prstGeom>
          </p:spPr>
          <p:txBody>
            <a:bodyPr anchor="t" rtlCol="false" tIns="0" lIns="0" bIns="0" rIns="0">
              <a:spAutoFit/>
            </a:bodyPr>
            <a:lstStyle/>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a:t>
              </a:r>
              <a:r>
                <a:rPr lang="en-US" sz="2397" spc="-23">
                  <a:solidFill>
                    <a:srgbClr val="C1C5DE"/>
                  </a:solidFill>
                  <a:latin typeface="Telegraf"/>
                  <a:ea typeface="Telegraf"/>
                  <a:cs typeface="Telegraf"/>
                  <a:sym typeface="Telegraf"/>
                </a:rPr>
                <a:t>ganalisis tren penjualan properti Mei–Juli 2016 (Pitch Deck).</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Menemukan korelasi positif antara jumlah kamar dan harga jual rumah (Pitch Deck).</a:t>
              </a:r>
            </a:p>
            <a:p>
              <a:pPr algn="just">
                <a:lnSpc>
                  <a:spcPts val="2636"/>
                </a:lnSpc>
              </a:pPr>
            </a:p>
            <a:p>
              <a:pPr algn="just" marL="517522" indent="-258761" lvl="1">
                <a:lnSpc>
                  <a:spcPts val="2636"/>
                </a:lnSpc>
                <a:buFont typeface="Arial"/>
                <a:buChar char="•"/>
              </a:pPr>
              <a:r>
                <a:rPr lang="en-US" sz="2397" spc="-23">
                  <a:solidFill>
                    <a:srgbClr val="C1C5DE"/>
                  </a:solidFill>
                  <a:latin typeface="Telegraf"/>
                  <a:ea typeface="Telegraf"/>
                  <a:cs typeface="Telegraf"/>
                  <a:sym typeface="Telegraf"/>
                </a:rPr>
                <a:t>Memberikan Rekomendasi Bisnis Nyata</a:t>
              </a:r>
            </a:p>
            <a:p>
              <a:pPr algn="just">
                <a:lnSpc>
                  <a:spcPts val="2636"/>
                </a:lnSpc>
              </a:pPr>
            </a:p>
          </p:txBody>
        </p:sp>
        <p:sp>
          <p:nvSpPr>
            <p:cNvPr name="TextBox 17" id="17"/>
            <p:cNvSpPr txBox="true"/>
            <p:nvPr/>
          </p:nvSpPr>
          <p:spPr>
            <a:xfrm rot="0">
              <a:off x="232363" y="-9525"/>
              <a:ext cx="10016471" cy="2032448"/>
            </a:xfrm>
            <a:prstGeom prst="rect">
              <a:avLst/>
            </a:prstGeom>
          </p:spPr>
          <p:txBody>
            <a:bodyPr anchor="t" rtlCol="false" tIns="0" lIns="0" bIns="0" rIns="0">
              <a:spAutoFit/>
            </a:bodyPr>
            <a:lstStyle/>
            <a:p>
              <a:pPr algn="l" marL="0" indent="0" lvl="0">
                <a:lnSpc>
                  <a:spcPts val="5713"/>
                </a:lnSpc>
              </a:pPr>
              <a:r>
                <a:rPr lang="en-US" b="true" sz="5194" spc="-51">
                  <a:solidFill>
                    <a:srgbClr val="9FA8DA"/>
                  </a:solidFill>
                  <a:latin typeface="Telegraf Bold"/>
                  <a:ea typeface="Telegraf Bold"/>
                  <a:cs typeface="Telegraf Bold"/>
                  <a:sym typeface="Telegraf Bold"/>
                </a:rPr>
                <a:t>Analisis &amp; Vis</a:t>
              </a:r>
              <a:r>
                <a:rPr lang="en-US" b="true" sz="5194" spc="-51">
                  <a:solidFill>
                    <a:srgbClr val="9FA8DA"/>
                  </a:solidFill>
                  <a:latin typeface="Telegraf Bold"/>
                  <a:ea typeface="Telegraf Bold"/>
                  <a:cs typeface="Telegraf Bold"/>
                  <a:sym typeface="Telegraf Bold"/>
                </a:rPr>
                <a:t>ualisasi  Pasar Rumah AS</a:t>
              </a:r>
            </a:p>
          </p:txBody>
        </p:sp>
      </p:grpSp>
      <p:sp>
        <p:nvSpPr>
          <p:cNvPr name="TextBox 18" id="18"/>
          <p:cNvSpPr txBox="true"/>
          <p:nvPr/>
        </p:nvSpPr>
        <p:spPr>
          <a:xfrm rot="0">
            <a:off x="1029355" y="7795259"/>
            <a:ext cx="1678781" cy="377825"/>
          </a:xfrm>
          <a:prstGeom prst="rect">
            <a:avLst/>
          </a:prstGeom>
        </p:spPr>
        <p:txBody>
          <a:bodyPr anchor="t" rtlCol="false" tIns="0" lIns="0" bIns="0" rIns="0">
            <a:spAutoFit/>
          </a:bodyPr>
          <a:lstStyle/>
          <a:p>
            <a:pPr algn="ctr">
              <a:lnSpc>
                <a:spcPts val="2800"/>
              </a:lnSpc>
            </a:pPr>
            <a:r>
              <a:rPr lang="en-US" b="true" sz="2000" spc="-20" u="sng">
                <a:solidFill>
                  <a:srgbClr val="A292D9"/>
                </a:solidFill>
                <a:latin typeface="Telegraf Bold"/>
                <a:ea typeface="Telegraf Bold"/>
                <a:cs typeface="Telegraf Bold"/>
                <a:sym typeface="Telegraf Bold"/>
                <a:hlinkClick r:id="rId4" tooltip="https://docs.google.com/presentation/d/1HWshzeKlUNpU4BjG82d6pExKdyr2VQHT/edit?usp=sharing&amp;ouid=101548568454846273812&amp;rtpof=true&amp;sd=true"/>
              </a:rPr>
              <a:t>Klik File PPTX</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0033"/>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9FA8DA"/>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604393" y="7094004"/>
            <a:ext cx="814965" cy="603074"/>
          </a:xfrm>
          <a:custGeom>
            <a:avLst/>
            <a:gdLst/>
            <a:ahLst/>
            <a:cxnLst/>
            <a:rect r="r" b="b" t="t" l="l"/>
            <a:pathLst>
              <a:path h="603074" w="814965">
                <a:moveTo>
                  <a:pt x="0" y="0"/>
                </a:moveTo>
                <a:lnTo>
                  <a:pt x="814966" y="0"/>
                </a:lnTo>
                <a:lnTo>
                  <a:pt x="814966" y="603075"/>
                </a:lnTo>
                <a:lnTo>
                  <a:pt x="0" y="603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29175" y="5572716"/>
            <a:ext cx="790184" cy="673811"/>
          </a:xfrm>
          <a:custGeom>
            <a:avLst/>
            <a:gdLst/>
            <a:ahLst/>
            <a:cxnLst/>
            <a:rect r="r" b="b" t="t" l="l"/>
            <a:pathLst>
              <a:path h="673811" w="790184">
                <a:moveTo>
                  <a:pt x="0" y="0"/>
                </a:moveTo>
                <a:lnTo>
                  <a:pt x="790184" y="0"/>
                </a:lnTo>
                <a:lnTo>
                  <a:pt x="790184" y="673811"/>
                </a:lnTo>
                <a:lnTo>
                  <a:pt x="0" y="6738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04393" y="4159382"/>
            <a:ext cx="802633" cy="565856"/>
          </a:xfrm>
          <a:custGeom>
            <a:avLst/>
            <a:gdLst/>
            <a:ahLst/>
            <a:cxnLst/>
            <a:rect r="r" b="b" t="t" l="l"/>
            <a:pathLst>
              <a:path h="565856" w="802633">
                <a:moveTo>
                  <a:pt x="0" y="0"/>
                </a:moveTo>
                <a:lnTo>
                  <a:pt x="802634" y="0"/>
                </a:lnTo>
                <a:lnTo>
                  <a:pt x="802634" y="565857"/>
                </a:lnTo>
                <a:lnTo>
                  <a:pt x="0" y="565857"/>
                </a:lnTo>
                <a:lnTo>
                  <a:pt x="0" y="0"/>
                </a:lnTo>
                <a:close/>
              </a:path>
            </a:pathLst>
          </a:custGeom>
          <a:blipFill>
            <a:blip r:embed="rId6"/>
            <a:stretch>
              <a:fillRect l="0" t="0" r="0" b="0"/>
            </a:stretch>
          </a:blipFill>
        </p:spPr>
      </p:sp>
      <p:sp>
        <p:nvSpPr>
          <p:cNvPr name="Freeform 8" id="8"/>
          <p:cNvSpPr/>
          <p:nvPr/>
        </p:nvSpPr>
        <p:spPr>
          <a:xfrm flipH="false" flipV="false" rot="0">
            <a:off x="1586712" y="2714498"/>
            <a:ext cx="820315" cy="824814"/>
          </a:xfrm>
          <a:custGeom>
            <a:avLst/>
            <a:gdLst/>
            <a:ahLst/>
            <a:cxnLst/>
            <a:rect r="r" b="b" t="t" l="l"/>
            <a:pathLst>
              <a:path h="824814" w="820315">
                <a:moveTo>
                  <a:pt x="0" y="0"/>
                </a:moveTo>
                <a:lnTo>
                  <a:pt x="820315" y="0"/>
                </a:lnTo>
                <a:lnTo>
                  <a:pt x="820315" y="824814"/>
                </a:lnTo>
                <a:lnTo>
                  <a:pt x="0" y="8248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19683" y="8316204"/>
            <a:ext cx="954373" cy="954373"/>
          </a:xfrm>
          <a:custGeom>
            <a:avLst/>
            <a:gdLst/>
            <a:ahLst/>
            <a:cxnLst/>
            <a:rect r="r" b="b" t="t" l="l"/>
            <a:pathLst>
              <a:path h="954373" w="954373">
                <a:moveTo>
                  <a:pt x="0" y="0"/>
                </a:moveTo>
                <a:lnTo>
                  <a:pt x="954373" y="0"/>
                </a:lnTo>
                <a:lnTo>
                  <a:pt x="954373" y="954373"/>
                </a:lnTo>
                <a:lnTo>
                  <a:pt x="0" y="9543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666750" y="666750"/>
            <a:ext cx="11201400" cy="1598784"/>
            <a:chOff x="0" y="0"/>
            <a:chExt cx="14935200" cy="2131712"/>
          </a:xfrm>
        </p:grpSpPr>
        <p:sp>
          <p:nvSpPr>
            <p:cNvPr name="TextBox 11" id="11"/>
            <p:cNvSpPr txBox="true"/>
            <p:nvPr/>
          </p:nvSpPr>
          <p:spPr>
            <a:xfrm rot="0">
              <a:off x="0" y="-9525"/>
              <a:ext cx="14935200" cy="1423458"/>
            </a:xfrm>
            <a:prstGeom prst="rect">
              <a:avLst/>
            </a:prstGeom>
          </p:spPr>
          <p:txBody>
            <a:bodyPr anchor="t" rtlCol="false" tIns="0" lIns="0" bIns="0" rIns="0">
              <a:spAutoFit/>
            </a:bodyPr>
            <a:lstStyle/>
            <a:p>
              <a:pPr algn="l" marL="0" indent="0" lvl="0">
                <a:lnSpc>
                  <a:spcPts val="7699"/>
                </a:lnSpc>
              </a:pPr>
              <a:r>
                <a:rPr lang="en-US" b="true" sz="6999" spc="-69">
                  <a:solidFill>
                    <a:srgbClr val="9FA8DA"/>
                  </a:solidFill>
                  <a:latin typeface="Telegraf Bold"/>
                  <a:ea typeface="Telegraf Bold"/>
                  <a:cs typeface="Telegraf Bold"/>
                  <a:sym typeface="Telegraf Bold"/>
                </a:rPr>
                <a:t>Hubu</a:t>
              </a:r>
              <a:r>
                <a:rPr lang="en-US" b="true" sz="6999" spc="-69">
                  <a:solidFill>
                    <a:srgbClr val="9FA8DA"/>
                  </a:solidFill>
                  <a:latin typeface="Telegraf Bold"/>
                  <a:ea typeface="Telegraf Bold"/>
                  <a:cs typeface="Telegraf Bold"/>
                  <a:sym typeface="Telegraf Bold"/>
                </a:rPr>
                <a:t>ngi Saya !!!</a:t>
              </a:r>
            </a:p>
          </p:txBody>
        </p:sp>
        <p:sp>
          <p:nvSpPr>
            <p:cNvPr name="TextBox 12" id="12"/>
            <p:cNvSpPr txBox="true"/>
            <p:nvPr/>
          </p:nvSpPr>
          <p:spPr>
            <a:xfrm rot="0">
              <a:off x="0" y="1503062"/>
              <a:ext cx="14935200" cy="628650"/>
            </a:xfrm>
            <a:prstGeom prst="rect">
              <a:avLst/>
            </a:prstGeom>
          </p:spPr>
          <p:txBody>
            <a:bodyPr anchor="t" rtlCol="false" tIns="0" lIns="0" bIns="0" rIns="0">
              <a:spAutoFit/>
            </a:bodyPr>
            <a:lstStyle/>
            <a:p>
              <a:pPr algn="l" marL="0" indent="0" lvl="0">
                <a:lnSpc>
                  <a:spcPts val="3300"/>
                </a:lnSpc>
              </a:pPr>
              <a:r>
                <a:rPr lang="en-US" b="true" sz="3000" spc="-30">
                  <a:solidFill>
                    <a:srgbClr val="A292D9"/>
                  </a:solidFill>
                  <a:latin typeface="Telegraf Bold"/>
                  <a:ea typeface="Telegraf Bold"/>
                  <a:cs typeface="Telegraf Bold"/>
                  <a:sym typeface="Telegraf Bold"/>
                </a:rPr>
                <a:t>M</a:t>
              </a:r>
              <a:r>
                <a:rPr lang="en-US" b="true" sz="3000" spc="-30">
                  <a:solidFill>
                    <a:srgbClr val="A292D9"/>
                  </a:solidFill>
                  <a:latin typeface="Telegraf Bold"/>
                  <a:ea typeface="Telegraf Bold"/>
                  <a:cs typeface="Telegraf Bold"/>
                  <a:sym typeface="Telegraf Bold"/>
                </a:rPr>
                <a:t>ari Kolaborasi &amp; Wujudkan Ide </a:t>
              </a:r>
            </a:p>
          </p:txBody>
        </p:sp>
      </p:grpSp>
      <p:grpSp>
        <p:nvGrpSpPr>
          <p:cNvPr name="Group 13" id="13"/>
          <p:cNvGrpSpPr/>
          <p:nvPr/>
        </p:nvGrpSpPr>
        <p:grpSpPr>
          <a:xfrm rot="0">
            <a:off x="2954237" y="2697191"/>
            <a:ext cx="5448300" cy="2275202"/>
            <a:chOff x="0" y="0"/>
            <a:chExt cx="7264400" cy="3033603"/>
          </a:xfrm>
        </p:grpSpPr>
        <p:sp>
          <p:nvSpPr>
            <p:cNvPr name="TextBox 14" id="14"/>
            <p:cNvSpPr txBox="true"/>
            <p:nvPr/>
          </p:nvSpPr>
          <p:spPr>
            <a:xfrm rot="0">
              <a:off x="0" y="-104775"/>
              <a:ext cx="7264400" cy="714375"/>
            </a:xfrm>
            <a:prstGeom prst="rect">
              <a:avLst/>
            </a:prstGeom>
          </p:spPr>
          <p:txBody>
            <a:bodyPr anchor="t" rtlCol="false" tIns="0" lIns="0" bIns="0" rIns="0">
              <a:spAutoFit/>
            </a:bodyPr>
            <a:lstStyle/>
            <a:p>
              <a:pPr algn="l" marL="0" indent="0" lvl="0">
                <a:lnSpc>
                  <a:spcPts val="4200"/>
                </a:lnSpc>
              </a:pPr>
              <a:r>
                <a:rPr lang="en-US" b="true" sz="3000" spc="-30">
                  <a:solidFill>
                    <a:srgbClr val="A292D9"/>
                  </a:solidFill>
                  <a:latin typeface="Telegraf Bold"/>
                  <a:ea typeface="Telegraf Bold"/>
                  <a:cs typeface="Telegraf Bold"/>
                  <a:sym typeface="Telegraf Bold"/>
                </a:rPr>
                <a:t>Phone</a:t>
              </a:r>
            </a:p>
          </p:txBody>
        </p:sp>
        <p:sp>
          <p:nvSpPr>
            <p:cNvPr name="TextBox 15" id="15"/>
            <p:cNvSpPr txBox="true"/>
            <p:nvPr/>
          </p:nvSpPr>
          <p:spPr>
            <a:xfrm rot="0">
              <a:off x="0" y="690873"/>
              <a:ext cx="7264400" cy="478367"/>
            </a:xfrm>
            <a:prstGeom prst="rect">
              <a:avLst/>
            </a:prstGeom>
          </p:spPr>
          <p:txBody>
            <a:bodyPr anchor="t" rtlCol="false" tIns="0" lIns="0" bIns="0" rIns="0">
              <a:spAutoFit/>
            </a:bodyPr>
            <a:lstStyle/>
            <a:p>
              <a:pPr algn="l" marL="0" indent="0" lvl="0">
                <a:lnSpc>
                  <a:spcPts val="2800"/>
                </a:lnSpc>
              </a:pPr>
              <a:r>
                <a:rPr lang="en-US" sz="2000" spc="-20">
                  <a:solidFill>
                    <a:srgbClr val="C1C5DE"/>
                  </a:solidFill>
                  <a:latin typeface="Telegraf"/>
                  <a:ea typeface="Telegraf"/>
                  <a:cs typeface="Telegraf"/>
                  <a:sym typeface="Telegraf"/>
                </a:rPr>
                <a:t>+6289639642519</a:t>
              </a:r>
            </a:p>
          </p:txBody>
        </p:sp>
        <p:sp>
          <p:nvSpPr>
            <p:cNvPr name="TextBox 16" id="16"/>
            <p:cNvSpPr txBox="true"/>
            <p:nvPr/>
          </p:nvSpPr>
          <p:spPr>
            <a:xfrm rot="0">
              <a:off x="0" y="1764662"/>
              <a:ext cx="7264400" cy="714375"/>
            </a:xfrm>
            <a:prstGeom prst="rect">
              <a:avLst/>
            </a:prstGeom>
          </p:spPr>
          <p:txBody>
            <a:bodyPr anchor="t" rtlCol="false" tIns="0" lIns="0" bIns="0" rIns="0">
              <a:spAutoFit/>
            </a:bodyPr>
            <a:lstStyle/>
            <a:p>
              <a:pPr algn="l" marL="0" indent="0" lvl="0">
                <a:lnSpc>
                  <a:spcPts val="4200"/>
                </a:lnSpc>
              </a:pPr>
              <a:r>
                <a:rPr lang="en-US" b="true" sz="3000" spc="-30" strike="noStrike" u="none">
                  <a:solidFill>
                    <a:srgbClr val="A292D9"/>
                  </a:solidFill>
                  <a:latin typeface="Telegraf Bold"/>
                  <a:ea typeface="Telegraf Bold"/>
                  <a:cs typeface="Telegraf Bold"/>
                  <a:sym typeface="Telegraf Bold"/>
                </a:rPr>
                <a:t>Email</a:t>
              </a:r>
            </a:p>
          </p:txBody>
        </p:sp>
        <p:sp>
          <p:nvSpPr>
            <p:cNvPr name="TextBox 17" id="17"/>
            <p:cNvSpPr txBox="true"/>
            <p:nvPr/>
          </p:nvSpPr>
          <p:spPr>
            <a:xfrm rot="0">
              <a:off x="0" y="2555237"/>
              <a:ext cx="7264400" cy="478367"/>
            </a:xfrm>
            <a:prstGeom prst="rect">
              <a:avLst/>
            </a:prstGeom>
          </p:spPr>
          <p:txBody>
            <a:bodyPr anchor="t" rtlCol="false" tIns="0" lIns="0" bIns="0" rIns="0">
              <a:spAutoFit/>
            </a:bodyPr>
            <a:lstStyle/>
            <a:p>
              <a:pPr algn="l" marL="0" indent="0" lvl="0">
                <a:lnSpc>
                  <a:spcPts val="2800"/>
                </a:lnSpc>
              </a:pPr>
              <a:r>
                <a:rPr lang="en-US" sz="2000" spc="-20">
                  <a:solidFill>
                    <a:srgbClr val="C1C5DE"/>
                  </a:solidFill>
                  <a:latin typeface="Telegraf"/>
                  <a:ea typeface="Telegraf"/>
                  <a:cs typeface="Telegraf"/>
                  <a:sym typeface="Telegraf"/>
                </a:rPr>
                <a:t>bayu92971@gmail.com</a:t>
              </a:r>
            </a:p>
          </p:txBody>
        </p:sp>
      </p:grpSp>
      <p:grpSp>
        <p:nvGrpSpPr>
          <p:cNvPr name="Group 18" id="18"/>
          <p:cNvGrpSpPr/>
          <p:nvPr/>
        </p:nvGrpSpPr>
        <p:grpSpPr>
          <a:xfrm rot="0">
            <a:off x="2954237" y="5572468"/>
            <a:ext cx="9098580" cy="2245991"/>
            <a:chOff x="0" y="0"/>
            <a:chExt cx="12131441" cy="2994655"/>
          </a:xfrm>
        </p:grpSpPr>
        <p:sp>
          <p:nvSpPr>
            <p:cNvPr name="TextBox 19" id="19"/>
            <p:cNvSpPr txBox="true"/>
            <p:nvPr/>
          </p:nvSpPr>
          <p:spPr>
            <a:xfrm rot="0">
              <a:off x="0" y="-104775"/>
              <a:ext cx="7264400" cy="714375"/>
            </a:xfrm>
            <a:prstGeom prst="rect">
              <a:avLst/>
            </a:prstGeom>
          </p:spPr>
          <p:txBody>
            <a:bodyPr anchor="t" rtlCol="false" tIns="0" lIns="0" bIns="0" rIns="0">
              <a:spAutoFit/>
            </a:bodyPr>
            <a:lstStyle/>
            <a:p>
              <a:pPr algn="l" marL="0" indent="0" lvl="0">
                <a:lnSpc>
                  <a:spcPts val="4200"/>
                </a:lnSpc>
              </a:pPr>
              <a:r>
                <a:rPr lang="en-US" b="true" sz="3000" spc="-30">
                  <a:solidFill>
                    <a:srgbClr val="A292D9"/>
                  </a:solidFill>
                  <a:latin typeface="Telegraf Bold"/>
                  <a:ea typeface="Telegraf Bold"/>
                  <a:cs typeface="Telegraf Bold"/>
                  <a:sym typeface="Telegraf Bold"/>
                </a:rPr>
                <a:t>Linkedin</a:t>
              </a:r>
            </a:p>
          </p:txBody>
        </p:sp>
        <p:sp>
          <p:nvSpPr>
            <p:cNvPr name="TextBox 20" id="20"/>
            <p:cNvSpPr txBox="true"/>
            <p:nvPr/>
          </p:nvSpPr>
          <p:spPr>
            <a:xfrm rot="0">
              <a:off x="0" y="690873"/>
              <a:ext cx="12131441" cy="478367"/>
            </a:xfrm>
            <a:prstGeom prst="rect">
              <a:avLst/>
            </a:prstGeom>
          </p:spPr>
          <p:txBody>
            <a:bodyPr anchor="t" rtlCol="false" tIns="0" lIns="0" bIns="0" rIns="0">
              <a:spAutoFit/>
            </a:bodyPr>
            <a:lstStyle/>
            <a:p>
              <a:pPr algn="l" marL="0" indent="0" lvl="0">
                <a:lnSpc>
                  <a:spcPts val="2800"/>
                </a:lnSpc>
              </a:pPr>
              <a:r>
                <a:rPr lang="en-US" sz="2000" spc="-20" u="sng">
                  <a:solidFill>
                    <a:srgbClr val="C1C5DE"/>
                  </a:solidFill>
                  <a:latin typeface="Telegraf"/>
                  <a:ea typeface="Telegraf"/>
                  <a:cs typeface="Telegraf"/>
                  <a:sym typeface="Telegraf"/>
                  <a:hlinkClick r:id="rId11" tooltip="https://www.linkedin.com/in/maulana-krisna-bayu-pratama-918751280/"/>
                </a:rPr>
                <a:t>https://www.linkedin.com/in/maulana-krisna-bayu-pratama-918751280/</a:t>
              </a:r>
            </a:p>
          </p:txBody>
        </p:sp>
        <p:sp>
          <p:nvSpPr>
            <p:cNvPr name="TextBox 21" id="21"/>
            <p:cNvSpPr txBox="true"/>
            <p:nvPr/>
          </p:nvSpPr>
          <p:spPr>
            <a:xfrm rot="0">
              <a:off x="0" y="1725713"/>
              <a:ext cx="7264400" cy="714375"/>
            </a:xfrm>
            <a:prstGeom prst="rect">
              <a:avLst/>
            </a:prstGeom>
          </p:spPr>
          <p:txBody>
            <a:bodyPr anchor="t" rtlCol="false" tIns="0" lIns="0" bIns="0" rIns="0">
              <a:spAutoFit/>
            </a:bodyPr>
            <a:lstStyle/>
            <a:p>
              <a:pPr algn="l" marL="0" indent="0" lvl="0">
                <a:lnSpc>
                  <a:spcPts val="4200"/>
                </a:lnSpc>
              </a:pPr>
              <a:r>
                <a:rPr lang="en-US" b="true" sz="3000" spc="-30">
                  <a:solidFill>
                    <a:srgbClr val="A292D9"/>
                  </a:solidFill>
                  <a:latin typeface="Telegraf Bold"/>
                  <a:ea typeface="Telegraf Bold"/>
                  <a:cs typeface="Telegraf Bold"/>
                  <a:sym typeface="Telegraf Bold"/>
                </a:rPr>
                <a:t>Discord</a:t>
              </a:r>
            </a:p>
          </p:txBody>
        </p:sp>
        <p:sp>
          <p:nvSpPr>
            <p:cNvPr name="TextBox 22" id="22"/>
            <p:cNvSpPr txBox="true"/>
            <p:nvPr/>
          </p:nvSpPr>
          <p:spPr>
            <a:xfrm rot="0">
              <a:off x="0" y="2516288"/>
              <a:ext cx="7264400" cy="478367"/>
            </a:xfrm>
            <a:prstGeom prst="rect">
              <a:avLst/>
            </a:prstGeom>
          </p:spPr>
          <p:txBody>
            <a:bodyPr anchor="t" rtlCol="false" tIns="0" lIns="0" bIns="0" rIns="0">
              <a:spAutoFit/>
            </a:bodyPr>
            <a:lstStyle/>
            <a:p>
              <a:pPr algn="l" marL="0" indent="0" lvl="0">
                <a:lnSpc>
                  <a:spcPts val="2800"/>
                </a:lnSpc>
              </a:pPr>
              <a:r>
                <a:rPr lang="en-US" sz="2000" spc="-20" u="sng">
                  <a:solidFill>
                    <a:srgbClr val="C1C5DE"/>
                  </a:solidFill>
                  <a:latin typeface="Telegraf"/>
                  <a:ea typeface="Telegraf"/>
                  <a:cs typeface="Telegraf"/>
                  <a:sym typeface="Telegraf"/>
                  <a:hlinkClick r:id="rId12" tooltip="https://github.com/BayuPrap"/>
                </a:rPr>
                <a:t>https://github.com/BayuPrap</a:t>
              </a:r>
            </a:p>
          </p:txBody>
        </p:sp>
      </p:grpSp>
      <p:sp>
        <p:nvSpPr>
          <p:cNvPr name="TextBox 23" id="23"/>
          <p:cNvSpPr txBox="true"/>
          <p:nvPr/>
        </p:nvSpPr>
        <p:spPr>
          <a:xfrm rot="0">
            <a:off x="2954237" y="8171520"/>
            <a:ext cx="5448300" cy="561975"/>
          </a:xfrm>
          <a:prstGeom prst="rect">
            <a:avLst/>
          </a:prstGeom>
        </p:spPr>
        <p:txBody>
          <a:bodyPr anchor="t" rtlCol="false" tIns="0" lIns="0" bIns="0" rIns="0">
            <a:spAutoFit/>
          </a:bodyPr>
          <a:lstStyle/>
          <a:p>
            <a:pPr algn="l" marL="0" indent="0" lvl="0">
              <a:lnSpc>
                <a:spcPts val="4200"/>
              </a:lnSpc>
            </a:pPr>
            <a:r>
              <a:rPr lang="en-US" b="true" sz="3000" spc="-30">
                <a:solidFill>
                  <a:srgbClr val="A292D9"/>
                </a:solidFill>
                <a:latin typeface="Telegraf Bold"/>
                <a:ea typeface="Telegraf Bold"/>
                <a:cs typeface="Telegraf Bold"/>
                <a:sym typeface="Telegraf Bold"/>
              </a:rPr>
              <a:t>Website</a:t>
            </a:r>
          </a:p>
        </p:txBody>
      </p:sp>
      <p:sp>
        <p:nvSpPr>
          <p:cNvPr name="TextBox 24" id="24"/>
          <p:cNvSpPr txBox="true"/>
          <p:nvPr/>
        </p:nvSpPr>
        <p:spPr>
          <a:xfrm rot="0">
            <a:off x="2954237" y="8880475"/>
            <a:ext cx="5448300" cy="377825"/>
          </a:xfrm>
          <a:prstGeom prst="rect">
            <a:avLst/>
          </a:prstGeom>
        </p:spPr>
        <p:txBody>
          <a:bodyPr anchor="t" rtlCol="false" tIns="0" lIns="0" bIns="0" rIns="0">
            <a:spAutoFit/>
          </a:bodyPr>
          <a:lstStyle/>
          <a:p>
            <a:pPr algn="l" marL="0" indent="0" lvl="0">
              <a:lnSpc>
                <a:spcPts val="2800"/>
              </a:lnSpc>
            </a:pPr>
            <a:r>
              <a:rPr lang="en-US" sz="2000" spc="-20">
                <a:solidFill>
                  <a:srgbClr val="C1C5DE"/>
                </a:solidFill>
                <a:latin typeface="Telegraf"/>
                <a:ea typeface="Telegraf"/>
                <a:cs typeface="Telegraf"/>
                <a:sym typeface="Telegraf"/>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Presentasi - Showcasing Expertise</dc:description>
  <dc:identifier>DAG-LQsEk8g</dc:identifier>
  <dcterms:modified xsi:type="dcterms:W3CDTF">2011-08-01T06:04:30Z</dcterms:modified>
  <cp:revision>1</cp:revision>
  <dc:title>Presentasi - Showcasing Expertise</dc:title>
</cp:coreProperties>
</file>